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8"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D9D9D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7085" autoAdjust="0"/>
    <p:restoredTop sz="95033" autoAdjust="0"/>
  </p:normalViewPr>
  <p:slideViewPr>
    <p:cSldViewPr snapToGrid="0">
      <p:cViewPr varScale="1">
        <p:scale>
          <a:sx n="87" d="100"/>
          <a:sy n="87" d="100"/>
        </p:scale>
        <p:origin x="-432" y="-86"/>
      </p:cViewPr>
      <p:guideLst>
        <p:guide orient="horz" pos="1968"/>
        <p:guide orient="horz" pos="3912"/>
        <p:guide orient="horz" pos="1656"/>
        <p:guide pos="408"/>
        <p:guide pos="7272"/>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pPr/>
              <a:t>9/4/2026</a:t>
            </a:fld>
            <a:endParaRPr lang="en-US" dirty="0"/>
          </a:p>
        </p:txBody>
      </p:sp>
      <p:sp>
        <p:nvSpPr>
          <p:cNvPr id="4" name="Footer Placeholder 3">
            <a:extLst>
              <a:ext uri="{FF2B5EF4-FFF2-40B4-BE49-F238E27FC236}">
                <a16:creationId xmlns:a16="http://schemas.microsoft.com/office/drawing/2014/main" xmlns=""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pPr/>
              <a:t>‹#›</a:t>
            </a:fld>
            <a:endParaRPr lang="en-US" dirty="0"/>
          </a:p>
        </p:txBody>
      </p:sp>
    </p:spTree>
    <p:extLst>
      <p:ext uri="{BB962C8B-B14F-4D97-AF65-F5344CB8AC3E}">
        <p14:creationId xmlns:p14="http://schemas.microsoft.com/office/powerpoint/2010/main" xmlns=""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pPr/>
              <a:t>9/4/2026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pPr/>
              <a:t>‹#›</a:t>
            </a:fld>
            <a:endParaRPr lang="en-US" noProof="0" dirty="0"/>
          </a:p>
        </p:txBody>
      </p:sp>
    </p:spTree>
    <p:extLst>
      <p:ext uri="{BB962C8B-B14F-4D97-AF65-F5344CB8AC3E}">
        <p14:creationId xmlns:p14="http://schemas.microsoft.com/office/powerpoint/2010/main" xmlns=""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pPr/>
              <a:t>5</a:t>
            </a:fld>
            <a:endParaRPr lang="en-US" noProof="0" dirty="0"/>
          </a:p>
        </p:txBody>
      </p:sp>
    </p:spTree>
    <p:extLst>
      <p:ext uri="{BB962C8B-B14F-4D97-AF65-F5344CB8AC3E}">
        <p14:creationId xmlns:p14="http://schemas.microsoft.com/office/powerpoint/2010/main" xmlns=""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3" name="Rounded Rectangle 12"/>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Subtitle 8"/>
          <p:cNvSpPr>
            <a:spLocks noGrp="1"/>
          </p:cNvSpPr>
          <p:nvPr>
            <p:ph type="subTitle" idx="1"/>
          </p:nvPr>
        </p:nvSpPr>
        <p:spPr>
          <a:xfrm>
            <a:off x="1727200" y="3200400"/>
            <a:ext cx="85344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17" name="Footer Placeholder 16"/>
          <p:cNvSpPr>
            <a:spLocks noGrp="1"/>
          </p:cNvSpPr>
          <p:nvPr>
            <p:ph type="ftr" sz="quarter" idx="11"/>
          </p:nvPr>
        </p:nvSpPr>
        <p:spPr/>
        <p:txBody>
          <a:bodyPr/>
          <a:lstStyle/>
          <a:p>
            <a:endParaRPr lang="en-US" dirty="0"/>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D57F1E4F-1CFF-5643-939E-217C01CDF565}" type="slidenum">
              <a:rPr lang="en-US" smtClean="0"/>
              <a:pPr/>
              <a:t>‹#›</a:t>
            </a:fld>
            <a:endParaRPr lang="en-US" dirty="0"/>
          </a:p>
        </p:txBody>
      </p:sp>
      <p:sp>
        <p:nvSpPr>
          <p:cNvPr id="7" name="Rectangle 6"/>
          <p:cNvSpPr/>
          <p:nvPr/>
        </p:nvSpPr>
        <p:spPr>
          <a:xfrm>
            <a:off x="83909" y="1449304"/>
            <a:ext cx="12028716"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0" name="Rectangle 9"/>
          <p:cNvSpPr/>
          <p:nvPr/>
        </p:nvSpPr>
        <p:spPr>
          <a:xfrm>
            <a:off x="83909" y="1396720"/>
            <a:ext cx="12028716"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1" name="Rectangle 10"/>
          <p:cNvSpPr/>
          <p:nvPr/>
        </p:nvSpPr>
        <p:spPr>
          <a:xfrm>
            <a:off x="83909" y="2976649"/>
            <a:ext cx="12028716"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Title 7"/>
          <p:cNvSpPr>
            <a:spLocks noGrp="1"/>
          </p:cNvSpPr>
          <p:nvPr>
            <p:ph type="ctrTitle"/>
          </p:nvPr>
        </p:nvSpPr>
        <p:spPr>
          <a:xfrm>
            <a:off x="609600" y="1505931"/>
            <a:ext cx="109728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8" name="Content Placeholder 7"/>
          <p:cNvSpPr>
            <a:spLocks noGrp="1"/>
          </p:cNvSpPr>
          <p:nvPr>
            <p:ph sz="quarter" idx="1"/>
          </p:nvPr>
        </p:nvSpPr>
        <p:spPr>
          <a:xfrm>
            <a:off x="1219200" y="1447800"/>
            <a:ext cx="103632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10" name="Rounded Rectangle 9"/>
          <p:cNvSpPr/>
          <p:nvPr/>
        </p:nvSpPr>
        <p:spPr>
          <a:xfrm>
            <a:off x="87084" y="69756"/>
            <a:ext cx="12017829"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963084" y="952501"/>
            <a:ext cx="103632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63084" y="2547938"/>
            <a:ext cx="103632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a:xfrm>
            <a:off x="1066800" y="6172200"/>
            <a:ext cx="5334000" cy="457200"/>
          </a:xfrm>
        </p:spPr>
        <p:txBody>
          <a:bodyPr/>
          <a:lstStyle/>
          <a:p>
            <a:endParaRPr lang="en-US" dirty="0"/>
          </a:p>
        </p:txBody>
      </p:sp>
      <p:sp>
        <p:nvSpPr>
          <p:cNvPr id="7" name="Rectangle 6"/>
          <p:cNvSpPr/>
          <p:nvPr/>
        </p:nvSpPr>
        <p:spPr>
          <a:xfrm flipV="1">
            <a:off x="92550" y="2376830"/>
            <a:ext cx="120180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8" name="Rectangle 7"/>
          <p:cNvSpPr/>
          <p:nvPr/>
        </p:nvSpPr>
        <p:spPr>
          <a:xfrm>
            <a:off x="92195" y="2341476"/>
            <a:ext cx="12018375"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9" name="Rectangle 8"/>
          <p:cNvSpPr/>
          <p:nvPr/>
        </p:nvSpPr>
        <p:spPr>
          <a:xfrm>
            <a:off x="91075" y="2468880"/>
            <a:ext cx="12019495"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6" name="Slide Number Placeholder 5"/>
          <p:cNvSpPr>
            <a:spLocks noGrp="1"/>
          </p:cNvSpPr>
          <p:nvPr>
            <p:ph type="sldNum" sz="quarter" idx="12"/>
          </p:nvPr>
        </p:nvSpPr>
        <p:spPr>
          <a:xfrm>
            <a:off x="195072" y="6208776"/>
            <a:ext cx="609600" cy="457200"/>
          </a:xfrm>
        </p:spPr>
        <p:txBody>
          <a:bodyPr/>
          <a:lstStyle/>
          <a:p>
            <a:fld id="{D57F1E4F-1CFF-5643-939E-217C01CDF565}" type="slidenum">
              <a:rPr lang="en-US" smtClean="0"/>
              <a:pPr/>
              <a:t>‹#›</a:t>
            </a:fld>
            <a:endParaRPr lang="en-US" dirty="0"/>
          </a:p>
        </p:txBody>
      </p:sp>
    </p:spTree>
  </p:cSld>
  <p:clrMapOvr>
    <a:overrideClrMapping bg1="lt1" tx1="dk1" bg2="lt2" tx2="dk2" accent1="accent1" accent2="accent2" accent3="accent3" accent4="accent4" accent5="accent5" accent6="accent6" hlink="hlink" folHlink="folHlink"/>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EB712588-04B1-427B-82EE-E8DB90309F08}" type="datetimeFigureOut">
              <a:rPr lang="en-US" smtClean="0"/>
              <a:pPr/>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
        <p:nvSpPr>
          <p:cNvPr id="9" name="Content Placeholder 8"/>
          <p:cNvSpPr>
            <a:spLocks noGrp="1"/>
          </p:cNvSpPr>
          <p:nvPr>
            <p:ph sz="quarter" idx="1"/>
          </p:nvPr>
        </p:nvSpPr>
        <p:spPr>
          <a:xfrm>
            <a:off x="1219200" y="1447800"/>
            <a:ext cx="499872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6578600" y="1447800"/>
            <a:ext cx="499872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19200" y="273050"/>
            <a:ext cx="103632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192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604000" y="1447800"/>
            <a:ext cx="49784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Content Placeholder 10"/>
          <p:cNvSpPr>
            <a:spLocks noGrp="1"/>
          </p:cNvSpPr>
          <p:nvPr>
            <p:ph sz="half" idx="2"/>
          </p:nvPr>
        </p:nvSpPr>
        <p:spPr>
          <a:xfrm>
            <a:off x="1219200" y="2247900"/>
            <a:ext cx="49784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6604000" y="2247900"/>
            <a:ext cx="49784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12192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useBgFill="1">
        <p:nvSpPr>
          <p:cNvPr id="9" name="Rounded Rectangle 8"/>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a:off x="1219200" y="273050"/>
            <a:ext cx="103632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1219200" y="1600200"/>
            <a:ext cx="2540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9/4/2026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
        <p:nvSpPr>
          <p:cNvPr id="11" name="Content Placeholder 10"/>
          <p:cNvSpPr>
            <a:spLocks noGrp="1"/>
          </p:cNvSpPr>
          <p:nvPr>
            <p:ph sz="quarter" idx="1"/>
          </p:nvPr>
        </p:nvSpPr>
        <p:spPr>
          <a:xfrm>
            <a:off x="3962400" y="1600200"/>
            <a:ext cx="7620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900550"/>
            <a:ext cx="97536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1219200" y="5445825"/>
            <a:ext cx="97536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6" name="Footer Placeholder 5"/>
          <p:cNvSpPr>
            <a:spLocks noGrp="1"/>
          </p:cNvSpPr>
          <p:nvPr>
            <p:ph type="ftr" sz="quarter" idx="11"/>
          </p:nvPr>
        </p:nvSpPr>
        <p:spPr>
          <a:xfrm>
            <a:off x="1219200" y="6172200"/>
            <a:ext cx="5181600" cy="457200"/>
          </a:xfrm>
        </p:spPr>
        <p:txBody>
          <a:bodyPr/>
          <a:lstStyle/>
          <a:p>
            <a:endParaRPr lang="en-US" dirty="0"/>
          </a:p>
        </p:txBody>
      </p:sp>
      <p:sp>
        <p:nvSpPr>
          <p:cNvPr id="7" name="Slide Number Placeholder 6"/>
          <p:cNvSpPr>
            <a:spLocks noGrp="1"/>
          </p:cNvSpPr>
          <p:nvPr>
            <p:ph type="sldNum" sz="quarter" idx="12"/>
          </p:nvPr>
        </p:nvSpPr>
        <p:spPr>
          <a:xfrm>
            <a:off x="195072" y="6208776"/>
            <a:ext cx="609600" cy="457200"/>
          </a:xfrm>
        </p:spPr>
        <p:txBody>
          <a:bodyPr/>
          <a:lstStyle/>
          <a:p>
            <a:fld id="{D57F1E4F-1CFF-5643-939E-217C01CDF565}" type="slidenum">
              <a:rPr lang="en-US" smtClean="0"/>
              <a:pPr/>
              <a:t>‹#›</a:t>
            </a:fld>
            <a:endParaRPr lang="en-US" dirty="0"/>
          </a:p>
        </p:txBody>
      </p:sp>
      <p:sp>
        <p:nvSpPr>
          <p:cNvPr id="11" name="Rectangle 10"/>
          <p:cNvSpPr/>
          <p:nvPr/>
        </p:nvSpPr>
        <p:spPr>
          <a:xfrm flipV="1">
            <a:off x="91076" y="4683555"/>
            <a:ext cx="1200912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2" name="Rectangle 11"/>
          <p:cNvSpPr/>
          <p:nvPr/>
        </p:nvSpPr>
        <p:spPr>
          <a:xfrm>
            <a:off x="91345" y="4650475"/>
            <a:ext cx="12008852"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3" name="Rectangle 12"/>
          <p:cNvSpPr/>
          <p:nvPr/>
        </p:nvSpPr>
        <p:spPr>
          <a:xfrm>
            <a:off x="91348" y="4773225"/>
            <a:ext cx="12008849"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 name="Picture Placeholder 2"/>
          <p:cNvSpPr>
            <a:spLocks noGrp="1"/>
          </p:cNvSpPr>
          <p:nvPr>
            <p:ph type="pic" idx="1"/>
          </p:nvPr>
        </p:nvSpPr>
        <p:spPr>
          <a:xfrm>
            <a:off x="91078" y="66676"/>
            <a:ext cx="12002497"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dirty="0" smtClean="0"/>
              <a:t>Click icon to add picture</a:t>
            </a:r>
            <a:endParaRPr kumimoji="0"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5C6B4A9-1611-4792-9094-5F34BCA07E0B}"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2"/>
            <a:ext cx="268224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219200" y="274641"/>
            <a:ext cx="7416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61BEF0D-F0BB-DE4B-95CE-6DB70DBA9567}" type="datetimeFigureOut">
              <a:rPr lang="en-US" smtClean="0"/>
              <a:pPr/>
              <a:t>9/4/2026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xmlns="" id="{6FDA3C6F-5F6A-4D64-8BFE-AFFF58B1A047}"/>
              </a:ext>
            </a:extLst>
          </p:cNvPr>
          <p:cNvSpPr>
            <a:spLocks noGrp="1"/>
          </p:cNvSpPr>
          <p:nvPr>
            <p:ph type="body" sz="quarter" idx="11"/>
          </p:nvPr>
        </p:nvSpPr>
        <p:spPr>
          <a:xfrm>
            <a:off x="6312872" y="4142001"/>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xmlns="" id="{AC159667-7690-4645-986D-BE501438455F}"/>
              </a:ext>
            </a:extLst>
          </p:cNvPr>
          <p:cNvSpPr/>
          <p:nvPr userDrawn="1"/>
        </p:nvSpPr>
        <p:spPr>
          <a:xfrm>
            <a:off x="740310" y="1382810"/>
            <a:ext cx="1229567"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xmlns="" id="{54667EE4-E77F-453B-BF8B-B1EE2AE80715}"/>
              </a:ext>
            </a:extLst>
          </p:cNvPr>
          <p:cNvSpPr/>
          <p:nvPr userDrawn="1"/>
        </p:nvSpPr>
        <p:spPr>
          <a:xfrm>
            <a:off x="3755031" y="1194622"/>
            <a:ext cx="1666163"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xmlns="" id="{FC050232-A229-425F-BFC8-D50374F2D171}"/>
              </a:ext>
            </a:extLst>
          </p:cNvPr>
          <p:cNvSpPr/>
          <p:nvPr userDrawn="1"/>
        </p:nvSpPr>
        <p:spPr>
          <a:xfrm>
            <a:off x="3804995" y="5233185"/>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xmlns="" id="{53E4EBC7-340A-43A5-9E23-4B73A6F700B6}"/>
              </a:ext>
            </a:extLst>
          </p:cNvPr>
          <p:cNvSpPr/>
          <p:nvPr userDrawn="1"/>
        </p:nvSpPr>
        <p:spPr>
          <a:xfrm>
            <a:off x="1837839"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xmlns=""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dirty="0"/>
              <a:t>Click icon to add picture</a:t>
            </a:r>
          </a:p>
        </p:txBody>
      </p:sp>
      <p:sp>
        <p:nvSpPr>
          <p:cNvPr id="2" name="Title 1">
            <a:extLst>
              <a:ext uri="{FF2B5EF4-FFF2-40B4-BE49-F238E27FC236}">
                <a16:creationId xmlns:a16="http://schemas.microsoft.com/office/drawing/2014/main" xmlns="" id="{03E68100-C56F-4515-A4FD-3F301797E78F}"/>
              </a:ext>
            </a:extLst>
          </p:cNvPr>
          <p:cNvSpPr>
            <a:spLocks noGrp="1"/>
          </p:cNvSpPr>
          <p:nvPr>
            <p:ph type="title"/>
          </p:nvPr>
        </p:nvSpPr>
        <p:spPr>
          <a:xfrm>
            <a:off x="6312871" y="2050554"/>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xmlns="" val="1409194673"/>
      </p:ext>
    </p:extLst>
  </p:cSld>
  <p:clrMapOvr>
    <a:masterClrMapping/>
  </p:clrMapOvr>
  <p:extLst mod="1">
    <p:ext uri="{DCECCB84-F9BA-43D5-87BE-67443E8EF086}">
      <p15:sldGuideLst xmlns:p15="http://schemas.microsoft.com/office/powerpoint/2012/main" xmlns="">
        <p15:guide id="1" orient="horz" pos="127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xmlns="" id="{4AA38E8C-A334-4183-8ABC-112B8517F487}"/>
              </a:ext>
            </a:extLst>
          </p:cNvPr>
          <p:cNvSpPr>
            <a:spLocks noGrp="1"/>
          </p:cNvSpPr>
          <p:nvPr>
            <p:ph type="body" sz="quarter" idx="12"/>
          </p:nvPr>
        </p:nvSpPr>
        <p:spPr>
          <a:xfrm>
            <a:off x="660400" y="2044702"/>
            <a:ext cx="4275139"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xmlns=""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1D07EC8A-6024-4DEA-9C4D-AE4228E17854}"/>
              </a:ext>
            </a:extLst>
          </p:cNvPr>
          <p:cNvSpPr/>
          <p:nvPr userDrawn="1"/>
        </p:nvSpPr>
        <p:spPr>
          <a:xfrm>
            <a:off x="6692792" y="1699891"/>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1C8FAEF-DF78-48CC-AEEF-F9B802055C05}"/>
              </a:ext>
            </a:extLst>
          </p:cNvPr>
          <p:cNvSpPr/>
          <p:nvPr userDrawn="1"/>
        </p:nvSpPr>
        <p:spPr>
          <a:xfrm>
            <a:off x="9354458" y="5897740"/>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xmlns=""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dirty="0"/>
              <a:t>Click icon to add picture</a:t>
            </a:r>
          </a:p>
        </p:txBody>
      </p:sp>
      <p:sp>
        <p:nvSpPr>
          <p:cNvPr id="2" name="Title 1">
            <a:extLst>
              <a:ext uri="{FF2B5EF4-FFF2-40B4-BE49-F238E27FC236}">
                <a16:creationId xmlns:a16="http://schemas.microsoft.com/office/drawing/2014/main" xmlns="" id="{459DADC7-BE21-4434-A6E4-BAF809005389}"/>
              </a:ext>
            </a:extLst>
          </p:cNvPr>
          <p:cNvSpPr>
            <a:spLocks noGrp="1"/>
          </p:cNvSpPr>
          <p:nvPr>
            <p:ph type="title"/>
          </p:nvPr>
        </p:nvSpPr>
        <p:spPr>
          <a:xfrm>
            <a:off x="660400" y="805215"/>
            <a:ext cx="4275139"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1591254852"/>
      </p:ext>
    </p:extLst>
  </p:cSld>
  <p:clrMapOvr>
    <a:masterClrMapping/>
  </p:clrMapOvr>
  <p:extLst mod="1">
    <p:ext uri="{DCECCB84-F9BA-43D5-87BE-67443E8EF086}">
      <p15:sldGuideLst xmlns:p15="http://schemas.microsoft.com/office/powerpoint/2012/main" xmlns="">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xmlns="" id="{24FAA9D0-7C9C-4043-9931-A15819ABB9B5}"/>
              </a:ext>
            </a:extLst>
          </p:cNvPr>
          <p:cNvSpPr/>
          <p:nvPr userDrawn="1"/>
        </p:nvSpPr>
        <p:spPr>
          <a:xfrm>
            <a:off x="7362826" y="443263"/>
            <a:ext cx="361951"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xmlns="" id="{E232AB2D-843E-4B5F-8793-6A263DA356BB}"/>
              </a:ext>
            </a:extLst>
          </p:cNvPr>
          <p:cNvSpPr/>
          <p:nvPr userDrawn="1"/>
        </p:nvSpPr>
        <p:spPr>
          <a:xfrm>
            <a:off x="11007247" y="5605996"/>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xmlns=""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xmlns="" id="{423AE48B-50E9-4BEA-B66A-B2D2B9CCFE9C}"/>
              </a:ext>
            </a:extLst>
          </p:cNvPr>
          <p:cNvSpPr>
            <a:spLocks noGrp="1"/>
          </p:cNvSpPr>
          <p:nvPr>
            <p:ph type="pic" sz="quarter" idx="10"/>
          </p:nvPr>
        </p:nvSpPr>
        <p:spPr>
          <a:xfrm>
            <a:off x="5733416" y="624239"/>
            <a:ext cx="5855755"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dirty="0"/>
              <a:t>Click icon to add picture</a:t>
            </a:r>
          </a:p>
        </p:txBody>
      </p:sp>
      <p:sp>
        <p:nvSpPr>
          <p:cNvPr id="27" name="Text Placeholder 26">
            <a:extLst>
              <a:ext uri="{FF2B5EF4-FFF2-40B4-BE49-F238E27FC236}">
                <a16:creationId xmlns:a16="http://schemas.microsoft.com/office/drawing/2014/main" xmlns="" id="{282D3E62-6D1A-4E9D-BE54-2EED9BF429A4}"/>
              </a:ext>
            </a:extLst>
          </p:cNvPr>
          <p:cNvSpPr>
            <a:spLocks noGrp="1"/>
          </p:cNvSpPr>
          <p:nvPr>
            <p:ph type="body" sz="quarter" idx="12"/>
          </p:nvPr>
        </p:nvSpPr>
        <p:spPr>
          <a:xfrm>
            <a:off x="660400" y="2044702"/>
            <a:ext cx="4275139"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xmlns="" id="{DEB8F0E5-B89F-48AD-87BD-534EA9463CD3}"/>
              </a:ext>
            </a:extLst>
          </p:cNvPr>
          <p:cNvSpPr>
            <a:spLocks noGrp="1"/>
          </p:cNvSpPr>
          <p:nvPr>
            <p:ph type="title"/>
          </p:nvPr>
        </p:nvSpPr>
        <p:spPr>
          <a:xfrm>
            <a:off x="660400" y="805215"/>
            <a:ext cx="4275139"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xmlns="" val="75139580"/>
      </p:ext>
    </p:extLst>
  </p:cSld>
  <p:clrMapOvr>
    <a:masterClrMapping/>
  </p:clrMapOvr>
  <p:extLst mod="1">
    <p:ext uri="{DCECCB84-F9BA-43D5-87BE-67443E8EF086}">
      <p15:sldGuideLst xmlns:p15="http://schemas.microsoft.com/office/powerpoint/2012/main" xmlns="">
        <p15:guide id="1"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xmlns="" id="{CF421413-161E-4B36-B693-FB38DF14EDAB}"/>
              </a:ext>
            </a:extLst>
          </p:cNvPr>
          <p:cNvSpPr>
            <a:spLocks noGrp="1"/>
          </p:cNvSpPr>
          <p:nvPr>
            <p:ph type="pic" sz="quarter" idx="22"/>
          </p:nvPr>
        </p:nvSpPr>
        <p:spPr>
          <a:xfrm>
            <a:off x="5353509"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38" name="Picture Placeholder 37">
            <a:extLst>
              <a:ext uri="{FF2B5EF4-FFF2-40B4-BE49-F238E27FC236}">
                <a16:creationId xmlns:a16="http://schemas.microsoft.com/office/drawing/2014/main" xmlns="" id="{B5D207AE-9C9C-410A-9F31-2402BAD6DDFF}"/>
              </a:ext>
            </a:extLst>
          </p:cNvPr>
          <p:cNvSpPr>
            <a:spLocks noGrp="1"/>
          </p:cNvSpPr>
          <p:nvPr>
            <p:ph type="pic" sz="quarter" idx="21"/>
          </p:nvPr>
        </p:nvSpPr>
        <p:spPr>
          <a:xfrm>
            <a:off x="3115922"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40" name="Picture Placeholder 39">
            <a:extLst>
              <a:ext uri="{FF2B5EF4-FFF2-40B4-BE49-F238E27FC236}">
                <a16:creationId xmlns:a16="http://schemas.microsoft.com/office/drawing/2014/main" xmlns="" id="{DE3344FC-C4DE-481F-9C31-667EDD563C47}"/>
              </a:ext>
            </a:extLst>
          </p:cNvPr>
          <p:cNvSpPr>
            <a:spLocks noGrp="1"/>
          </p:cNvSpPr>
          <p:nvPr>
            <p:ph type="pic" sz="quarter" idx="23"/>
          </p:nvPr>
        </p:nvSpPr>
        <p:spPr>
          <a:xfrm>
            <a:off x="7602466"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41" name="Picture Placeholder 40">
            <a:extLst>
              <a:ext uri="{FF2B5EF4-FFF2-40B4-BE49-F238E27FC236}">
                <a16:creationId xmlns:a16="http://schemas.microsoft.com/office/drawing/2014/main" xmlns="" id="{59094D7D-3613-49C1-BB58-A65B41A9738D}"/>
              </a:ext>
            </a:extLst>
          </p:cNvPr>
          <p:cNvSpPr>
            <a:spLocks noGrp="1"/>
          </p:cNvSpPr>
          <p:nvPr>
            <p:ph type="pic" sz="quarter" idx="24"/>
          </p:nvPr>
        </p:nvSpPr>
        <p:spPr>
          <a:xfrm>
            <a:off x="9840053"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
        <p:nvSpPr>
          <p:cNvPr id="8" name="Title 1">
            <a:extLst>
              <a:ext uri="{FF2B5EF4-FFF2-40B4-BE49-F238E27FC236}">
                <a16:creationId xmlns:a16="http://schemas.microsoft.com/office/drawing/2014/main" xmlns=""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xmlns="" id="{476CA45F-A66A-4AD8-A004-10DB55A5D7B2}"/>
              </a:ext>
            </a:extLst>
          </p:cNvPr>
          <p:cNvSpPr/>
          <p:nvPr userDrawn="1"/>
        </p:nvSpPr>
        <p:spPr>
          <a:xfrm>
            <a:off x="546670" y="3467557"/>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xmlns="" id="{27A66A3D-2437-4015-9F5F-380C4D23D83C}"/>
              </a:ext>
            </a:extLst>
          </p:cNvPr>
          <p:cNvSpPr/>
          <p:nvPr userDrawn="1"/>
        </p:nvSpPr>
        <p:spPr>
          <a:xfrm>
            <a:off x="11113338"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xmlns="" id="{FFB14F3B-E7EF-4546-8D74-71FFB45C77C0}"/>
              </a:ext>
            </a:extLst>
          </p:cNvPr>
          <p:cNvSpPr/>
          <p:nvPr userDrawn="1"/>
        </p:nvSpPr>
        <p:spPr>
          <a:xfrm>
            <a:off x="10882649" y="2202204"/>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xmlns=""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xmlns=""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xmlns="" id="{BBA6FD52-E179-41F8-AE78-9AF3D65F28B6}"/>
              </a:ext>
            </a:extLst>
          </p:cNvPr>
          <p:cNvSpPr>
            <a:spLocks noGrp="1"/>
          </p:cNvSpPr>
          <p:nvPr>
            <p:ph type="body" sz="quarter" idx="12"/>
          </p:nvPr>
        </p:nvSpPr>
        <p:spPr>
          <a:xfrm>
            <a:off x="278948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xmlns=""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xmlns=""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xmlns=""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xmlns="" id="{DF6BB5C9-B678-435A-830F-4C10EB1A957C}"/>
              </a:ext>
            </a:extLst>
          </p:cNvPr>
          <p:cNvSpPr>
            <a:spLocks noGrp="1"/>
          </p:cNvSpPr>
          <p:nvPr>
            <p:ph type="body" sz="quarter" idx="16"/>
          </p:nvPr>
        </p:nvSpPr>
        <p:spPr>
          <a:xfrm>
            <a:off x="7275111"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xmlns=""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xmlns=""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xmlns=""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xmlns="" id="{FBDB3FD3-4F52-4E28-B639-5F73070E47D9}"/>
              </a:ext>
            </a:extLst>
          </p:cNvPr>
          <p:cNvSpPr>
            <a:spLocks noGrp="1"/>
          </p:cNvSpPr>
          <p:nvPr>
            <p:ph type="pic" sz="quarter" idx="20"/>
          </p:nvPr>
        </p:nvSpPr>
        <p:spPr>
          <a:xfrm>
            <a:off x="87833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dirty="0"/>
              <a:t>Click icon to add picture</a:t>
            </a:r>
          </a:p>
        </p:txBody>
      </p:sp>
    </p:spTree>
    <p:extLst>
      <p:ext uri="{BB962C8B-B14F-4D97-AF65-F5344CB8AC3E}">
        <p14:creationId xmlns:p14="http://schemas.microsoft.com/office/powerpoint/2010/main" xmlns="" val="1795884839"/>
      </p:ext>
    </p:extLst>
  </p:cSld>
  <p:clrMapOvr>
    <a:masterClrMapping/>
  </p:clrMapOvr>
  <p:extLst mod="1">
    <p:ext uri="{DCECCB84-F9BA-43D5-87BE-67443E8EF086}">
      <p15:sldGuideLst xmlns:p15="http://schemas.microsoft.com/office/powerpoint/2012/main" xmlns="">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xmlns=""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dirty="0"/>
              <a:t>Click icon to add picture</a:t>
            </a:r>
          </a:p>
        </p:txBody>
      </p:sp>
      <p:sp>
        <p:nvSpPr>
          <p:cNvPr id="2" name="Rectangle 1" descr="Tall office building looking up">
            <a:extLst>
              <a:ext uri="{FF2B5EF4-FFF2-40B4-BE49-F238E27FC236}">
                <a16:creationId xmlns:a16="http://schemas.microsoft.com/office/drawing/2014/main" xmlns=""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xmlns="" id="{340C15AA-E296-48AE-857F-0589EEA69DC6}"/>
              </a:ext>
            </a:extLst>
          </p:cNvPr>
          <p:cNvSpPr>
            <a:spLocks noGrp="1"/>
          </p:cNvSpPr>
          <p:nvPr>
            <p:ph type="body" sz="quarter" idx="11" hasCustomPrompt="1"/>
          </p:nvPr>
        </p:nvSpPr>
        <p:spPr>
          <a:xfrm>
            <a:off x="4149139" y="4859469"/>
            <a:ext cx="3924935"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xmlns="" id="{162BE5D7-9E35-49F8-A8E4-2093183A6404}"/>
              </a:ext>
            </a:extLst>
          </p:cNvPr>
          <p:cNvSpPr>
            <a:spLocks noGrp="1"/>
          </p:cNvSpPr>
          <p:nvPr>
            <p:ph type="title"/>
          </p:nvPr>
        </p:nvSpPr>
        <p:spPr>
          <a:xfrm>
            <a:off x="4149139" y="1529687"/>
            <a:ext cx="3924935"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xmlns=""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12192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useBgFill="1">
        <p:nvSpPr>
          <p:cNvPr id="8" name="Rounded Rectangle 7"/>
          <p:cNvSpPr/>
          <p:nvPr/>
        </p:nvSpPr>
        <p:spPr>
          <a:xfrm>
            <a:off x="85344" y="69755"/>
            <a:ext cx="12017829"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1219200" y="274638"/>
            <a:ext cx="103632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1219200" y="1447800"/>
            <a:ext cx="103632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8229600" y="6191250"/>
            <a:ext cx="3302000" cy="476250"/>
          </a:xfrm>
          <a:prstGeom prst="rect">
            <a:avLst/>
          </a:prstGeom>
        </p:spPr>
        <p:txBody>
          <a:bodyPr anchor="ctr" anchorCtr="0"/>
          <a:lstStyle>
            <a:lvl1pPr algn="r" eaLnBrk="1" latinLnBrk="0" hangingPunct="1">
              <a:defRPr kumimoji="0" sz="1400">
                <a:solidFill>
                  <a:schemeClr val="tx2"/>
                </a:solidFill>
              </a:defRPr>
            </a:lvl1pPr>
          </a:lstStyle>
          <a:p>
            <a:fld id="{B61BEF0D-F0BB-DE4B-95CE-6DB70DBA9567}" type="datetimeFigureOut">
              <a:rPr lang="en-US" smtClean="0"/>
              <a:pPr/>
              <a:t>9/4/2026</a:t>
            </a:fld>
            <a:endParaRPr lang="en-US" dirty="0"/>
          </a:p>
        </p:txBody>
      </p:sp>
      <p:sp>
        <p:nvSpPr>
          <p:cNvPr id="3" name="Footer Placeholder 2"/>
          <p:cNvSpPr>
            <a:spLocks noGrp="1"/>
          </p:cNvSpPr>
          <p:nvPr>
            <p:ph type="ftr" sz="quarter" idx="3"/>
          </p:nvPr>
        </p:nvSpPr>
        <p:spPr>
          <a:xfrm>
            <a:off x="1219200" y="6172200"/>
            <a:ext cx="5283200" cy="457200"/>
          </a:xfrm>
          <a:prstGeom prst="rect">
            <a:avLst/>
          </a:prstGeom>
        </p:spPr>
        <p:txBody>
          <a:bodyPr anchor="ctr" anchorCtr="0"/>
          <a:lstStyle>
            <a:lvl1pPr eaLnBrk="1" latinLnBrk="0" hangingPunct="1">
              <a:defRPr kumimoji="0" sz="1400">
                <a:solidFill>
                  <a:schemeClr val="tx2"/>
                </a:solidFill>
              </a:defRPr>
            </a:lvl1pPr>
          </a:lstStyle>
          <a:p>
            <a:endParaRPr lang="en-US" dirty="0"/>
          </a:p>
        </p:txBody>
      </p:sp>
      <p:sp>
        <p:nvSpPr>
          <p:cNvPr id="23" name="Slide Number Placeholder 22"/>
          <p:cNvSpPr>
            <a:spLocks noGrp="1"/>
          </p:cNvSpPr>
          <p:nvPr>
            <p:ph type="sldNum" sz="quarter" idx="4"/>
          </p:nvPr>
        </p:nvSpPr>
        <p:spPr>
          <a:xfrm>
            <a:off x="195072" y="6210300"/>
            <a:ext cx="6096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D57F1E4F-1CFF-5643-939E-217C01CDF565}" type="slidenum">
              <a:rPr lang="en-US" smtClean="0"/>
              <a:pPr/>
              <a:t>‹#›</a:t>
            </a:fld>
            <a:endParaRPr lang="en-US" dirty="0"/>
          </a:p>
        </p:txBody>
      </p:sp>
      <p:sp>
        <p:nvSpPr>
          <p:cNvPr id="10" name="Date Placeholder 3">
            <a:extLst>
              <a:ext uri="{FF2B5EF4-FFF2-40B4-BE49-F238E27FC236}">
                <a16:creationId xmlns:a16="http://schemas.microsoft.com/office/drawing/2014/main" xmlns="" id="{2CD6B789-4B66-4BD0-9623-80E9542A65FE}"/>
              </a:ext>
            </a:extLst>
          </p:cNvPr>
          <p:cNvSpPr txBox="1">
            <a:spLocks/>
          </p:cNvSpPr>
          <p:nvPr userDrawn="1"/>
        </p:nvSpPr>
        <p:spPr>
          <a:xfrm>
            <a:off x="660396" y="6378908"/>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9/4/2026</a:t>
            </a:fld>
            <a:endParaRPr lang="en-US" sz="1100" dirty="0">
              <a:solidFill>
                <a:schemeClr val="accent2"/>
              </a:solidFill>
            </a:endParaRPr>
          </a:p>
        </p:txBody>
      </p:sp>
      <p:sp>
        <p:nvSpPr>
          <p:cNvPr id="11" name="Footer Placeholder 4">
            <a:extLst>
              <a:ext uri="{FF2B5EF4-FFF2-40B4-BE49-F238E27FC236}">
                <a16:creationId xmlns:a16="http://schemas.microsoft.com/office/drawing/2014/main" xmlns="" id="{A3BB5234-44A4-4506-BD19-5808475EBB7F}"/>
              </a:ext>
            </a:extLst>
          </p:cNvPr>
          <p:cNvSpPr txBox="1">
            <a:spLocks/>
          </p:cNvSpPr>
          <p:nvPr userDrawn="1"/>
        </p:nvSpPr>
        <p:spPr>
          <a:xfrm>
            <a:off x="1445527" y="6378908"/>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12" name="Slide Number Placeholder 5">
            <a:extLst>
              <a:ext uri="{FF2B5EF4-FFF2-40B4-BE49-F238E27FC236}">
                <a16:creationId xmlns:a16="http://schemas.microsoft.com/office/drawing/2014/main" xmlns="" id="{68D89618-7EE9-46BF-BEAC-45E6F98ACA1A}"/>
              </a:ext>
            </a:extLst>
          </p:cNvPr>
          <p:cNvSpPr txBox="1">
            <a:spLocks/>
          </p:cNvSpPr>
          <p:nvPr userDrawn="1"/>
        </p:nvSpPr>
        <p:spPr>
          <a:xfrm>
            <a:off x="8805339" y="6378908"/>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29" r:id="rId11"/>
    <p:sldLayoutId id="2147483830" r:id="rId12"/>
    <p:sldLayoutId id="2147483831" r:id="rId13"/>
    <p:sldLayoutId id="2147483832" r:id="rId14"/>
    <p:sldLayoutId id="2147483833" r:id="rId15"/>
    <p:sldLayoutId id="2147483690" r:id="rId16"/>
  </p:sldLayoutIdLst>
  <p:hf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eg"/><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eg"/><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7201737A-B873-4D1D-8A41-5ABF5184BC8F}"/>
              </a:ext>
            </a:extLst>
          </p:cNvPr>
          <p:cNvSpPr>
            <a:spLocks noGrp="1"/>
          </p:cNvSpPr>
          <p:nvPr>
            <p:ph type="body" sz="quarter" idx="11"/>
          </p:nvPr>
        </p:nvSpPr>
        <p:spPr>
          <a:xfrm>
            <a:off x="448409" y="4097218"/>
            <a:ext cx="5055577" cy="870439"/>
          </a:xfrm>
        </p:spPr>
        <p:txBody>
          <a:bodyPr vert="horz" wrap="square" lIns="91440" tIns="45720" rIns="91440" bIns="45720" rtlCol="0" anchor="t">
            <a:normAutofit fontScale="25000" lnSpcReduction="20000"/>
          </a:bodyPr>
          <a:lstStyle/>
          <a:p>
            <a:r>
              <a:rPr lang="en-US" sz="7200" dirty="0" smtClean="0">
                <a:solidFill>
                  <a:schemeClr val="tx1"/>
                </a:solidFill>
              </a:rPr>
              <a:t>Prepared </a:t>
            </a:r>
            <a:r>
              <a:rPr lang="en-US" sz="7200" dirty="0" smtClean="0">
                <a:solidFill>
                  <a:schemeClr val="tx1"/>
                </a:solidFill>
              </a:rPr>
              <a:t>by Vidhi </a:t>
            </a:r>
            <a:r>
              <a:rPr lang="en-US" sz="7200" dirty="0" smtClean="0">
                <a:solidFill>
                  <a:schemeClr val="tx1"/>
                </a:solidFill>
              </a:rPr>
              <a:t>Mittal</a:t>
            </a:r>
          </a:p>
          <a:p>
            <a:r>
              <a:rPr lang="en-US" sz="5600" dirty="0" smtClean="0">
                <a:solidFill>
                  <a:schemeClr val="tx1"/>
                </a:solidFill>
                <a:latin typeface="Aptos"/>
              </a:rPr>
              <a:t> B.Tech </a:t>
            </a:r>
            <a:r>
              <a:rPr lang="en-US" sz="5600" dirty="0" smtClean="0">
                <a:solidFill>
                  <a:schemeClr val="tx1"/>
                </a:solidFill>
                <a:latin typeface="Aptos"/>
              </a:rPr>
              <a:t>CSE </a:t>
            </a:r>
          </a:p>
          <a:p>
            <a:r>
              <a:rPr lang="en-US" sz="5600" dirty="0" smtClean="0">
                <a:solidFill>
                  <a:schemeClr val="tx1"/>
                </a:solidFill>
                <a:latin typeface="Aptos"/>
              </a:rPr>
              <a:t> </a:t>
            </a:r>
            <a:r>
              <a:rPr lang="en-US" sz="5600" dirty="0" smtClean="0">
                <a:solidFill>
                  <a:schemeClr val="tx1"/>
                </a:solidFill>
                <a:latin typeface="Aptos"/>
              </a:rPr>
              <a:t>Echelon Institute of Technology</a:t>
            </a:r>
          </a:p>
          <a:p>
            <a:endParaRPr lang="en-US" sz="4400" dirty="0" smtClean="0"/>
          </a:p>
        </p:txBody>
      </p:sp>
      <p:sp>
        <p:nvSpPr>
          <p:cNvPr id="4" name="Title 3">
            <a:extLst>
              <a:ext uri="{FF2B5EF4-FFF2-40B4-BE49-F238E27FC236}">
                <a16:creationId xmlns:a16="http://schemas.microsoft.com/office/drawing/2014/main" xmlns="" id="{92056599-CDAA-4367-BEF8-31D6E32518C8}"/>
              </a:ext>
            </a:extLst>
          </p:cNvPr>
          <p:cNvSpPr>
            <a:spLocks noGrp="1"/>
          </p:cNvSpPr>
          <p:nvPr>
            <p:ph type="title"/>
          </p:nvPr>
        </p:nvSpPr>
        <p:spPr>
          <a:xfrm>
            <a:off x="430823" y="2409094"/>
            <a:ext cx="6998676" cy="1441939"/>
          </a:xfrm>
        </p:spPr>
        <p:txBody>
          <a:bodyPr wrap="square">
            <a:noAutofit/>
          </a:bodyPr>
          <a:lstStyle/>
          <a:p>
            <a:r>
              <a:rPr b="1"/>
              <a:t>Project Title -</a:t>
            </a:r>
            <a:endParaRPr lang="en-IN" b="1" dirty="0"/>
          </a:p>
          <a:p>
            <a:r>
              <a:rPr b="1"/>
              <a:t>Seasonal Agriculture Performance Analysis</a:t>
            </a:r>
          </a:p>
        </p:txBody>
      </p:sp>
      <p:sp>
        <p:nvSpPr>
          <p:cNvPr id="15" name="Text Placeholder 1">
            <a:extLst>
              <a:ext uri="{FF2B5EF4-FFF2-40B4-BE49-F238E27FC236}">
                <a16:creationId xmlns:a16="http://schemas.microsoft.com/office/drawing/2014/main" xmlns="" id="{824B8A32-9AB3-457E-82E1-C85D3203CE35}"/>
              </a:ext>
            </a:extLst>
          </p:cNvPr>
          <p:cNvSpPr txBox="1">
            <a:spLocks/>
          </p:cNvSpPr>
          <p:nvPr/>
        </p:nvSpPr>
        <p:spPr>
          <a:xfrm>
            <a:off x="6400800" y="2794003"/>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xmlns="" id="{E30DEFF0-8DEE-4B0B-9B30-675FE9E288A2}"/>
              </a:ext>
            </a:extLst>
          </p:cNvPr>
          <p:cNvPicPr>
            <a:picLocks noChangeAspect="1"/>
          </p:cNvPicPr>
          <p:nvPr/>
        </p:nvPicPr>
        <p:blipFill rotWithShape="1">
          <a:blip r:embed="rId2"/>
          <a:srcRect t="96181"/>
          <a:stretch/>
        </p:blipFill>
        <p:spPr>
          <a:xfrm>
            <a:off x="675958" y="6471920"/>
            <a:ext cx="2143125" cy="193040"/>
          </a:xfrm>
          <a:prstGeom prst="rect">
            <a:avLst/>
          </a:prstGeom>
        </p:spPr>
      </p:pic>
      <p:sp>
        <p:nvSpPr>
          <p:cNvPr id="3" name="TextBox 2">
            <a:extLst>
              <a:ext uri="{FF2B5EF4-FFF2-40B4-BE49-F238E27FC236}">
                <a16:creationId xmlns:a16="http://schemas.microsoft.com/office/drawing/2014/main" xmlns="" id="{17F04107-8754-E47D-3375-529E689711FA}"/>
              </a:ext>
            </a:extLst>
          </p:cNvPr>
          <p:cNvSpPr txBox="1"/>
          <p:nvPr/>
        </p:nvSpPr>
        <p:spPr>
          <a:xfrm>
            <a:off x="457202" y="4976445"/>
            <a:ext cx="3658983" cy="307777"/>
          </a:xfrm>
          <a:prstGeom prst="rect">
            <a:avLst/>
          </a:prstGeom>
          <a:noFill/>
        </p:spPr>
        <p:txBody>
          <a:bodyPr wrap="square" rtlCol="0">
            <a:spAutoFit/>
          </a:bodyPr>
          <a:lstStyle/>
          <a:p>
            <a:r>
              <a:rPr sz="1400" b="1"/>
              <a:t>AICTE STU ID: STU696a56052569d1768576517</a:t>
            </a:r>
          </a:p>
        </p:txBody>
      </p:sp>
    </p:spTree>
    <p:extLst>
      <p:ext uri="{BB962C8B-B14F-4D97-AF65-F5344CB8AC3E}">
        <p14:creationId xmlns:p14="http://schemas.microsoft.com/office/powerpoint/2010/main" xmlns=""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E46E4DD1-270B-4C80-AFF0-EB26F132AF36}"/>
              </a:ext>
            </a:extLst>
          </p:cNvPr>
          <p:cNvSpPr>
            <a:spLocks noGrp="1"/>
          </p:cNvSpPr>
          <p:nvPr>
            <p:ph type="body" sz="quarter" idx="12"/>
          </p:nvPr>
        </p:nvSpPr>
        <p:spPr>
          <a:xfrm>
            <a:off x="1046480" y="1875558"/>
            <a:ext cx="6431280" cy="3988913"/>
          </a:xfrm>
        </p:spPr>
        <p:txBody>
          <a:bodyPr vert="horz" wrap="square" lIns="91440" tIns="45720" rIns="91440" bIns="45720" rtlCol="0" anchor="t">
            <a:normAutofit/>
          </a:bodyPr>
          <a:lstStyle/>
          <a:p>
            <a:pPr>
              <a:lnSpc>
                <a:spcPct val="100000"/>
              </a:lnSpc>
            </a:pPr>
            <a:r>
              <a:rPr b="0">
                <a:latin typeface="Arial" pitchFamily="34" charset="0"/>
                <a:cs typeface="Arial" pitchFamily="34" charset="0"/>
              </a:rPr>
              <a:t>Agricultural activities are influenced by seasonal variations in environmental conditions, farming practices, resource availability and market conditions. Raw agricultural data does not clearly explain these seasonal differences.</a:t>
            </a:r>
            <a:r>
              <a:rPr>
                <a:latin typeface="Arial" pitchFamily="34" charset="0"/>
                <a:cs typeface="Arial" pitchFamily="34" charset="0"/>
              </a:rPr>
              <a:t/>
            </a:r>
            <a:br>
              <a:rPr>
                <a:latin typeface="Arial" pitchFamily="34" charset="0"/>
                <a:cs typeface="Arial" pitchFamily="34" charset="0"/>
              </a:rPr>
            </a:br>
            <a:r>
              <a:rPr>
                <a:latin typeface="Arial" pitchFamily="34" charset="0"/>
                <a:cs typeface="Arial" pitchFamily="34" charset="0"/>
              </a:rPr>
              <a:t/>
            </a:r>
            <a:br>
              <a:rPr>
                <a:latin typeface="Arial" pitchFamily="34" charset="0"/>
                <a:cs typeface="Arial" pitchFamily="34" charset="0"/>
              </a:rPr>
            </a:br>
            <a:r>
              <a:rPr b="0">
                <a:latin typeface="Arial" pitchFamily="34" charset="0"/>
                <a:cs typeface="Arial" pitchFamily="34" charset="0"/>
              </a:rPr>
              <a:t>This project analyzes the agricultural dataset to identify meaningful seasonal patterns, trends, relationships and variations in yield, production, resource usage, environmental conditions and economic performance.</a:t>
            </a:r>
            <a:endParaRPr lang="en-IN" dirty="0">
              <a:latin typeface="Arial" pitchFamily="34" charset="0"/>
              <a:cs typeface="Arial" pitchFamily="34" charset="0"/>
            </a:endParaRPr>
          </a:p>
        </p:txBody>
      </p:sp>
      <p:sp>
        <p:nvSpPr>
          <p:cNvPr id="4" name="Title 3">
            <a:extLst>
              <a:ext uri="{FF2B5EF4-FFF2-40B4-BE49-F238E27FC236}">
                <a16:creationId xmlns:a16="http://schemas.microsoft.com/office/drawing/2014/main" xmlns="" id="{777CC02B-F7C6-47A8-8C3E-C57C417D9EA3}"/>
              </a:ext>
            </a:extLst>
          </p:cNvPr>
          <p:cNvSpPr>
            <a:spLocks noGrp="1"/>
          </p:cNvSpPr>
          <p:nvPr>
            <p:ph type="title"/>
          </p:nvPr>
        </p:nvSpPr>
        <p:spPr>
          <a:xfrm>
            <a:off x="754601" y="550419"/>
            <a:ext cx="9057614" cy="790111"/>
          </a:xfrm>
        </p:spPr>
        <p:txBody>
          <a:bodyPr>
            <a:normAutofit/>
          </a:bodyPr>
          <a:lstStyle/>
          <a:p>
            <a:pPr algn="ctr"/>
            <a:r>
              <a:rPr lang="en-US" sz="4000" dirty="0">
                <a:latin typeface="Arial" pitchFamily="34" charset="0"/>
                <a:cs typeface="Arial" pitchFamily="34" charset="0"/>
              </a:rPr>
              <a:t>PROBLEM  STATEMENT</a:t>
            </a:r>
            <a:endParaRPr lang="en-IN" sz="4000" dirty="0">
              <a:latin typeface="Arial" pitchFamily="34" charset="0"/>
              <a:cs typeface="Arial" pitchFamily="34" charset="0"/>
            </a:endParaRPr>
          </a:p>
        </p:txBody>
      </p:sp>
      <p:pic>
        <p:nvPicPr>
          <p:cNvPr id="5" name="Picture 4">
            <a:extLst>
              <a:ext uri="{FF2B5EF4-FFF2-40B4-BE49-F238E27FC236}">
                <a16:creationId xmlns:a16="http://schemas.microsoft.com/office/drawing/2014/main" xmlns="" id="{C8FE02DE-D7B2-433D-BFE4-2F564022AD89}"/>
              </a:ext>
            </a:extLst>
          </p:cNvPr>
          <p:cNvPicPr>
            <a:picLocks noChangeAspect="1"/>
          </p:cNvPicPr>
          <p:nvPr/>
        </p:nvPicPr>
        <p:blipFill>
          <a:blip r:embed="rId2"/>
          <a:stretch>
            <a:fillRect/>
          </a:stretch>
        </p:blipFill>
        <p:spPr>
          <a:xfrm>
            <a:off x="7995685" y="2930836"/>
            <a:ext cx="2760759" cy="3264409"/>
          </a:xfrm>
          <a:prstGeom prst="rect">
            <a:avLst/>
          </a:prstGeom>
        </p:spPr>
      </p:pic>
      <p:pic>
        <p:nvPicPr>
          <p:cNvPr id="6" name="Picture 5">
            <a:extLst>
              <a:ext uri="{FF2B5EF4-FFF2-40B4-BE49-F238E27FC236}">
                <a16:creationId xmlns:a16="http://schemas.microsoft.com/office/drawing/2014/main" xmlns="" id="{736DEFE3-051A-494A-949C-BB2FF86F9ED7}"/>
              </a:ext>
            </a:extLst>
          </p:cNvPr>
          <p:cNvPicPr>
            <a:picLocks noChangeAspect="1"/>
          </p:cNvPicPr>
          <p:nvPr/>
        </p:nvPicPr>
        <p:blipFill rotWithShape="1">
          <a:blip r:embed="rId3"/>
          <a:srcRect t="96181"/>
          <a:stretch/>
        </p:blipFill>
        <p:spPr>
          <a:xfrm>
            <a:off x="675958" y="6471920"/>
            <a:ext cx="2143125" cy="193040"/>
          </a:xfrm>
          <a:prstGeom prst="rect">
            <a:avLst/>
          </a:prstGeom>
        </p:spPr>
      </p:pic>
    </p:spTree>
    <p:extLst>
      <p:ext uri="{BB962C8B-B14F-4D97-AF65-F5344CB8AC3E}">
        <p14:creationId xmlns:p14="http://schemas.microsoft.com/office/powerpoint/2010/main" xmlns=""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xmlns="" id="{EBF2FBC7-3552-4F01-BB27-8BEEE74F7277}"/>
              </a:ext>
            </a:extLst>
          </p:cNvPr>
          <p:cNvSpPr>
            <a:spLocks noGrp="1"/>
          </p:cNvSpPr>
          <p:nvPr>
            <p:ph type="title"/>
          </p:nvPr>
        </p:nvSpPr>
        <p:spPr>
          <a:xfrm>
            <a:off x="2875084" y="761253"/>
            <a:ext cx="5653455" cy="830997"/>
          </a:xfrm>
        </p:spPr>
        <p:txBody>
          <a:bodyPr wrap="square">
            <a:normAutofit fontScale="90000"/>
          </a:bodyPr>
          <a:lstStyle/>
          <a:p>
            <a:pPr algn="ctr"/>
            <a:r>
              <a:rPr lang="en-IN" sz="4000" dirty="0" smtClean="0">
                <a:latin typeface="Arial" pitchFamily="34" charset="0"/>
                <a:cs typeface="Arial" pitchFamily="34" charset="0"/>
              </a:rPr>
              <a:t>PROJECT DESCRIPTION</a:t>
            </a:r>
            <a:endParaRPr lang="en-IN" sz="4000" dirty="0">
              <a:latin typeface="Arial" pitchFamily="34" charset="0"/>
              <a:cs typeface="Arial" pitchFamily="34" charset="0"/>
            </a:endParaRPr>
          </a:p>
        </p:txBody>
      </p:sp>
      <p:pic>
        <p:nvPicPr>
          <p:cNvPr id="5" name="Picture 4">
            <a:extLst>
              <a:ext uri="{FF2B5EF4-FFF2-40B4-BE49-F238E27FC236}">
                <a16:creationId xmlns:a16="http://schemas.microsoft.com/office/drawing/2014/main" xmlns="" id="{09D8A2BA-6C1D-4A33-85F2-E44A4FF54A1C}"/>
              </a:ext>
            </a:extLst>
          </p:cNvPr>
          <p:cNvPicPr>
            <a:picLocks noChangeAspect="1"/>
          </p:cNvPicPr>
          <p:nvPr/>
        </p:nvPicPr>
        <p:blipFill rotWithShape="1">
          <a:blip r:embed="rId2"/>
          <a:srcRect t="96181"/>
          <a:stretch/>
        </p:blipFill>
        <p:spPr>
          <a:xfrm>
            <a:off x="675958" y="6471920"/>
            <a:ext cx="2143125" cy="193040"/>
          </a:xfrm>
          <a:prstGeom prst="rect">
            <a:avLst/>
          </a:prstGeom>
        </p:spPr>
      </p:pic>
      <p:pic>
        <p:nvPicPr>
          <p:cNvPr id="6" name="Picture 5">
            <a:extLst>
              <a:ext uri="{FF2B5EF4-FFF2-40B4-BE49-F238E27FC236}">
                <a16:creationId xmlns:a16="http://schemas.microsoft.com/office/drawing/2014/main" xmlns="" id="{6BED3D6A-DC10-4985-B01B-735F2CBA6E47}"/>
              </a:ext>
            </a:extLst>
          </p:cNvPr>
          <p:cNvPicPr>
            <a:picLocks noChangeAspect="1"/>
          </p:cNvPicPr>
          <p:nvPr/>
        </p:nvPicPr>
        <p:blipFill>
          <a:blip r:embed="rId3"/>
          <a:stretch>
            <a:fillRect/>
          </a:stretch>
        </p:blipFill>
        <p:spPr>
          <a:xfrm>
            <a:off x="467360" y="6410461"/>
            <a:ext cx="3706253" cy="296092"/>
          </a:xfrm>
          <a:prstGeom prst="rect">
            <a:avLst/>
          </a:prstGeom>
        </p:spPr>
      </p:pic>
      <p:sp>
        <p:nvSpPr>
          <p:cNvPr id="10" name="TextBox 9"/>
          <p:cNvSpPr txBox="1"/>
          <p:nvPr/>
        </p:nvSpPr>
        <p:spPr>
          <a:xfrm>
            <a:off x="731520" y="1811215"/>
            <a:ext cx="9875520" cy="3580467"/>
          </a:xfrm>
          <a:prstGeom prst="rect">
            <a:avLst/>
          </a:prstGeom>
          <a:noFill/>
        </p:spPr>
        <p:txBody>
          <a:bodyPr wrap="square">
            <a:spAutoFit/>
          </a:bodyPr>
          <a:lstStyle/>
          <a:p>
            <a:pPr>
              <a:spcAft>
                <a:spcPts val="800"/>
              </a:spcAft>
              <a:defRPr sz="1700"/>
            </a:pPr>
            <a:r>
              <a:rPr sz="2000">
                <a:latin typeface="Arial" pitchFamily="34" charset="0"/>
                <a:cs typeface="Arial" pitchFamily="34" charset="0"/>
              </a:rPr>
              <a:t>• Analyze 4,000 agricultural farm records covering 28 variables across Kharif, Rabi and Zaid seasons.</a:t>
            </a:r>
          </a:p>
          <a:p>
            <a:pPr>
              <a:spcAft>
                <a:spcPts val="800"/>
              </a:spcAft>
              <a:defRPr sz="1700"/>
            </a:pPr>
            <a:r>
              <a:rPr sz="2000">
                <a:latin typeface="Arial" pitchFamily="34" charset="0"/>
                <a:cs typeface="Arial" pitchFamily="34" charset="0"/>
              </a:rPr>
              <a:t>• Perform data exploration, missing-value treatment, duplicate removal and basic data-quality checks.</a:t>
            </a:r>
          </a:p>
          <a:p>
            <a:pPr>
              <a:spcAft>
                <a:spcPts val="800"/>
              </a:spcAft>
              <a:defRPr sz="1700"/>
            </a:pPr>
            <a:r>
              <a:rPr sz="2000">
                <a:latin typeface="Arial" pitchFamily="34" charset="0"/>
                <a:cs typeface="Arial" pitchFamily="34" charset="0"/>
              </a:rPr>
              <a:t>• Compare seasonal yield, production, rainfall, temperature, resource usage, water efficiency, revenue, cost, profit and disease/pest risk.</a:t>
            </a:r>
          </a:p>
          <a:p>
            <a:pPr>
              <a:spcAft>
                <a:spcPts val="800"/>
              </a:spcAft>
              <a:defRPr sz="1700"/>
            </a:pPr>
            <a:r>
              <a:rPr sz="2000">
                <a:latin typeface="Arial" pitchFamily="34" charset="0"/>
                <a:cs typeface="Arial" pitchFamily="34" charset="0"/>
              </a:rPr>
              <a:t>• Use group-by analysis, cross-tabulation, box plots, bar charts, scatter plots and a correlation matrix to interpret patterns.</a:t>
            </a:r>
          </a:p>
          <a:p>
            <a:pPr>
              <a:spcAft>
                <a:spcPts val="800"/>
              </a:spcAft>
              <a:defRPr sz="1700"/>
            </a:pPr>
            <a:r>
              <a:rPr sz="2000">
                <a:latin typeface="Arial" pitchFamily="34" charset="0"/>
                <a:cs typeface="Arial" pitchFamily="34" charset="0"/>
              </a:rPr>
              <a:t>• Generate a final season-wise summary table and evidence-based observations for agricultural planning.</a:t>
            </a:r>
          </a:p>
        </p:txBody>
      </p:sp>
    </p:spTree>
    <p:extLst>
      <p:ext uri="{BB962C8B-B14F-4D97-AF65-F5344CB8AC3E}">
        <p14:creationId xmlns:p14="http://schemas.microsoft.com/office/powerpoint/2010/main" xmlns=""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xmlns="" id="{1A4A072B-83C6-4607-AE6A-5AD61CC72C44}"/>
              </a:ext>
            </a:extLst>
          </p:cNvPr>
          <p:cNvSpPr>
            <a:spLocks noGrp="1"/>
          </p:cNvSpPr>
          <p:nvPr>
            <p:ph type="title"/>
          </p:nvPr>
        </p:nvSpPr>
        <p:spPr>
          <a:xfrm>
            <a:off x="620009" y="876619"/>
            <a:ext cx="10046071" cy="802641"/>
          </a:xfrm>
        </p:spPr>
        <p:txBody>
          <a:bodyPr wrap="square">
            <a:normAutofit/>
          </a:bodyPr>
          <a:lstStyle/>
          <a:p>
            <a:pPr algn="ctr"/>
            <a:r>
              <a:rPr sz="4000" b="1">
                <a:latin typeface="Arial" pitchFamily="34" charset="0"/>
                <a:cs typeface="Arial" pitchFamily="34" charset="0"/>
              </a:rPr>
              <a:t>WHO ARE THE END USERS?</a:t>
            </a:r>
            <a:endParaRPr lang="en-IN" sz="4000" dirty="0">
              <a:latin typeface="Arial" pitchFamily="34" charset="0"/>
              <a:cs typeface="Arial" pitchFamily="34" charset="0"/>
            </a:endParaRPr>
          </a:p>
        </p:txBody>
      </p:sp>
      <p:pic>
        <p:nvPicPr>
          <p:cNvPr id="6" name="Picture 5">
            <a:extLst>
              <a:ext uri="{FF2B5EF4-FFF2-40B4-BE49-F238E27FC236}">
                <a16:creationId xmlns:a16="http://schemas.microsoft.com/office/drawing/2014/main" xmlns="" id="{E8B153BB-61B9-403F-8AE5-F75400450AC0}"/>
              </a:ext>
            </a:extLst>
          </p:cNvPr>
          <p:cNvPicPr>
            <a:picLocks noChangeAspect="1"/>
          </p:cNvPicPr>
          <p:nvPr/>
        </p:nvPicPr>
        <p:blipFill>
          <a:blip r:embed="rId2"/>
          <a:stretch>
            <a:fillRect/>
          </a:stretch>
        </p:blipFill>
        <p:spPr>
          <a:xfrm>
            <a:off x="721361" y="6176806"/>
            <a:ext cx="2181225" cy="485775"/>
          </a:xfrm>
          <a:prstGeom prst="rect">
            <a:avLst/>
          </a:prstGeom>
        </p:spPr>
      </p:pic>
      <p:sp>
        <p:nvSpPr>
          <p:cNvPr id="17" name="TextBox 16"/>
          <p:cNvSpPr txBox="1"/>
          <p:nvPr/>
        </p:nvSpPr>
        <p:spPr>
          <a:xfrm>
            <a:off x="822960" y="1960686"/>
            <a:ext cx="9418320" cy="3580467"/>
          </a:xfrm>
          <a:prstGeom prst="rect">
            <a:avLst/>
          </a:prstGeom>
          <a:noFill/>
        </p:spPr>
        <p:txBody>
          <a:bodyPr wrap="square">
            <a:spAutoFit/>
          </a:bodyPr>
          <a:lstStyle/>
          <a:p>
            <a:pPr>
              <a:spcAft>
                <a:spcPts val="800"/>
              </a:spcAft>
              <a:defRPr sz="1800"/>
            </a:pPr>
            <a:r>
              <a:rPr sz="2000">
                <a:latin typeface="Arial" pitchFamily="34" charset="0"/>
                <a:cs typeface="Arial" pitchFamily="34" charset="0"/>
              </a:rPr>
              <a:t>• Farmers and farm managers — compare seasonal performance and resource usage.</a:t>
            </a:r>
          </a:p>
          <a:p>
            <a:pPr>
              <a:spcAft>
                <a:spcPts val="800"/>
              </a:spcAft>
              <a:defRPr sz="1800"/>
            </a:pPr>
            <a:r>
              <a:rPr sz="2000">
                <a:latin typeface="Arial" pitchFamily="34" charset="0"/>
                <a:cs typeface="Arial" pitchFamily="34" charset="0"/>
              </a:rPr>
              <a:t>• Agricultural planners and extension teams — understand seasonal patterns and areas needing attention.</a:t>
            </a:r>
          </a:p>
          <a:p>
            <a:pPr>
              <a:spcAft>
                <a:spcPts val="800"/>
              </a:spcAft>
              <a:defRPr sz="1800"/>
            </a:pPr>
            <a:r>
              <a:rPr sz="2000">
                <a:latin typeface="Arial" pitchFamily="34" charset="0"/>
                <a:cs typeface="Arial" pitchFamily="34" charset="0"/>
              </a:rPr>
              <a:t>• Agribusiness and market stakeholders — examine revenue, cost and profit variation.</a:t>
            </a:r>
          </a:p>
          <a:p>
            <a:pPr>
              <a:spcAft>
                <a:spcPts val="800"/>
              </a:spcAft>
              <a:defRPr sz="1800"/>
            </a:pPr>
            <a:r>
              <a:rPr sz="2000">
                <a:latin typeface="Arial" pitchFamily="34" charset="0"/>
                <a:cs typeface="Arial" pitchFamily="34" charset="0"/>
              </a:rPr>
              <a:t>• Water/resource management stakeholders — evaluate water use and seasonal water efficiency.</a:t>
            </a:r>
          </a:p>
          <a:p>
            <a:pPr>
              <a:spcAft>
                <a:spcPts val="800"/>
              </a:spcAft>
              <a:defRPr sz="1800"/>
            </a:pPr>
            <a:r>
              <a:rPr sz="2000">
                <a:latin typeface="Arial" pitchFamily="34" charset="0"/>
                <a:cs typeface="Arial" pitchFamily="34" charset="0"/>
              </a:rPr>
              <a:t>• Data analysts and students — reproduce and extend the analysis using the </a:t>
            </a:r>
            <a:r>
              <a:rPr sz="2000">
                <a:latin typeface="Arial" pitchFamily="34" charset="0"/>
                <a:cs typeface="Arial" pitchFamily="34" charset="0"/>
              </a:rPr>
              <a:t>Jupyter</a:t>
            </a:r>
            <a:r>
              <a:rPr sz="2000">
                <a:latin typeface="Arial" pitchFamily="34" charset="0"/>
                <a:cs typeface="Arial" pitchFamily="34" charset="0"/>
              </a:rPr>
              <a:t> Notebook.</a:t>
            </a:r>
          </a:p>
        </p:txBody>
      </p:sp>
    </p:spTree>
    <p:extLst>
      <p:ext uri="{BB962C8B-B14F-4D97-AF65-F5344CB8AC3E}">
        <p14:creationId xmlns:p14="http://schemas.microsoft.com/office/powerpoint/2010/main" xmlns=""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xmlns="" id="{0B7C27C4-3E14-490A-B132-CBBEDA1E905A}"/>
              </a:ext>
            </a:extLst>
          </p:cNvPr>
          <p:cNvPicPr>
            <a:picLocks noChangeAspect="1"/>
          </p:cNvPicPr>
          <p:nvPr/>
        </p:nvPicPr>
        <p:blipFill>
          <a:blip r:embed="rId3"/>
          <a:stretch>
            <a:fillRect/>
          </a:stretch>
        </p:blipFill>
        <p:spPr>
          <a:xfrm>
            <a:off x="467360" y="6410461"/>
            <a:ext cx="3706253" cy="296092"/>
          </a:xfrm>
          <a:prstGeom prst="rect">
            <a:avLst/>
          </a:prstGeom>
        </p:spPr>
      </p:pic>
      <p:pic>
        <p:nvPicPr>
          <p:cNvPr id="2" name="Picture 1">
            <a:extLst>
              <a:ext uri="{FF2B5EF4-FFF2-40B4-BE49-F238E27FC236}">
                <a16:creationId xmlns:a16="http://schemas.microsoft.com/office/drawing/2014/main" xmlns=""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xmlns="" id="{FEF304F5-32C5-4869-B185-859B567855A8}"/>
              </a:ext>
            </a:extLst>
          </p:cNvPr>
          <p:cNvSpPr>
            <a:spLocks noGrp="1"/>
          </p:cNvSpPr>
          <p:nvPr>
            <p:ph type="title"/>
          </p:nvPr>
        </p:nvSpPr>
        <p:spPr>
          <a:xfrm>
            <a:off x="660401" y="430569"/>
            <a:ext cx="7120793" cy="847817"/>
          </a:xfrm>
        </p:spPr>
        <p:txBody>
          <a:bodyPr wrap="square">
            <a:normAutofit/>
          </a:bodyPr>
          <a:lstStyle/>
          <a:p>
            <a:pPr algn="ctr"/>
            <a:r>
              <a:rPr sz="4000" b="1">
                <a:latin typeface="Arial" pitchFamily="34" charset="0"/>
                <a:cs typeface="Arial" pitchFamily="34" charset="0"/>
              </a:rPr>
              <a:t>Technology Used</a:t>
            </a:r>
          </a:p>
        </p:txBody>
      </p:sp>
      <p:sp>
        <p:nvSpPr>
          <p:cNvPr id="17" name="TextBox 16"/>
          <p:cNvSpPr txBox="1"/>
          <p:nvPr/>
        </p:nvSpPr>
        <p:spPr>
          <a:xfrm>
            <a:off x="914400" y="1554482"/>
            <a:ext cx="9418320" cy="2451953"/>
          </a:xfrm>
          <a:prstGeom prst="rect">
            <a:avLst/>
          </a:prstGeom>
          <a:noFill/>
        </p:spPr>
        <p:txBody>
          <a:bodyPr wrap="square">
            <a:spAutoFit/>
          </a:bodyPr>
          <a:lstStyle/>
          <a:p>
            <a:pPr>
              <a:spcAft>
                <a:spcPts val="800"/>
              </a:spcAft>
              <a:defRPr sz="1900"/>
            </a:pPr>
            <a:r>
              <a:rPr sz="2000">
                <a:latin typeface="Arial" pitchFamily="34" charset="0"/>
                <a:cs typeface="Arial" pitchFamily="34" charset="0"/>
              </a:rPr>
              <a:t>• Python — core analysis language</a:t>
            </a:r>
          </a:p>
          <a:p>
            <a:pPr>
              <a:spcAft>
                <a:spcPts val="800"/>
              </a:spcAft>
              <a:defRPr sz="1900"/>
            </a:pPr>
            <a:r>
              <a:rPr sz="2000">
                <a:latin typeface="Arial" pitchFamily="34" charset="0"/>
                <a:cs typeface="Arial" pitchFamily="34" charset="0"/>
              </a:rPr>
              <a:t>• Pandas — data loading, cleaning, grouping and aggregation</a:t>
            </a:r>
          </a:p>
          <a:p>
            <a:pPr>
              <a:spcAft>
                <a:spcPts val="800"/>
              </a:spcAft>
              <a:defRPr sz="1900"/>
            </a:pPr>
            <a:r>
              <a:rPr sz="2000">
                <a:latin typeface="Arial" pitchFamily="34" charset="0"/>
                <a:cs typeface="Arial" pitchFamily="34" charset="0"/>
              </a:rPr>
              <a:t>• NumPy — numerical operations and data handling</a:t>
            </a:r>
          </a:p>
          <a:p>
            <a:pPr>
              <a:spcAft>
                <a:spcPts val="800"/>
              </a:spcAft>
              <a:defRPr sz="1900"/>
            </a:pPr>
            <a:r>
              <a:rPr sz="2000">
                <a:latin typeface="Arial" pitchFamily="34" charset="0"/>
                <a:cs typeface="Arial" pitchFamily="34" charset="0"/>
              </a:rPr>
              <a:t>• Matplotlib &amp; Seaborn — statistical and analytical visualizations</a:t>
            </a:r>
          </a:p>
          <a:p>
            <a:pPr>
              <a:spcAft>
                <a:spcPts val="800"/>
              </a:spcAft>
              <a:defRPr sz="1900"/>
            </a:pPr>
            <a:r>
              <a:rPr sz="2000">
                <a:latin typeface="Arial" pitchFamily="34" charset="0"/>
                <a:cs typeface="Arial" pitchFamily="34" charset="0"/>
              </a:rPr>
              <a:t>• </a:t>
            </a:r>
            <a:r>
              <a:rPr sz="2000">
                <a:latin typeface="Arial" pitchFamily="34" charset="0"/>
                <a:cs typeface="Arial" pitchFamily="34" charset="0"/>
              </a:rPr>
              <a:t>Jupyter</a:t>
            </a:r>
            <a:r>
              <a:rPr sz="2000">
                <a:latin typeface="Arial" pitchFamily="34" charset="0"/>
                <a:cs typeface="Arial" pitchFamily="34" charset="0"/>
              </a:rPr>
              <a:t> Notebook / Google Colab — interactive analysis and documentation</a:t>
            </a:r>
          </a:p>
          <a:p>
            <a:pPr>
              <a:spcAft>
                <a:spcPts val="800"/>
              </a:spcAft>
              <a:defRPr sz="1900"/>
            </a:pPr>
            <a:r>
              <a:rPr sz="2000">
                <a:latin typeface="Arial" pitchFamily="34" charset="0"/>
                <a:cs typeface="Arial" pitchFamily="34" charset="0"/>
              </a:rPr>
              <a:t>• CSV dataset — source agricultural records</a:t>
            </a:r>
          </a:p>
        </p:txBody>
      </p:sp>
    </p:spTree>
    <p:extLst>
      <p:ext uri="{BB962C8B-B14F-4D97-AF65-F5344CB8AC3E}">
        <p14:creationId xmlns:p14="http://schemas.microsoft.com/office/powerpoint/2010/main" xmlns=""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BBB0C869-7C5C-4070-BD4D-F3FC2DA8F301}"/>
              </a:ext>
            </a:extLst>
          </p:cNvPr>
          <p:cNvPicPr>
            <a:picLocks noChangeAspect="1"/>
          </p:cNvPicPr>
          <p:nvPr/>
        </p:nvPicPr>
        <p:blipFill rotWithShape="1">
          <a:blip r:embed="rId2"/>
          <a:srcRect t="96181"/>
          <a:stretch/>
        </p:blipFill>
        <p:spPr>
          <a:xfrm>
            <a:off x="675958" y="6471920"/>
            <a:ext cx="2143125" cy="193040"/>
          </a:xfrm>
          <a:prstGeom prst="rect">
            <a:avLst/>
          </a:prstGeom>
        </p:spPr>
      </p:pic>
      <p:sp>
        <p:nvSpPr>
          <p:cNvPr id="4" name="Title 3">
            <a:extLst>
              <a:ext uri="{FF2B5EF4-FFF2-40B4-BE49-F238E27FC236}">
                <a16:creationId xmlns:a16="http://schemas.microsoft.com/office/drawing/2014/main" xmlns="" id="{AFE3A2AF-177E-45E6-A191-0F8523DB7FFA}"/>
              </a:ext>
            </a:extLst>
          </p:cNvPr>
          <p:cNvSpPr>
            <a:spLocks noGrp="1"/>
          </p:cNvSpPr>
          <p:nvPr>
            <p:ph type="title"/>
          </p:nvPr>
        </p:nvSpPr>
        <p:spPr>
          <a:xfrm>
            <a:off x="3200401" y="370591"/>
            <a:ext cx="3305908" cy="830997"/>
          </a:xfrm>
        </p:spPr>
        <p:txBody>
          <a:bodyPr>
            <a:normAutofit fontScale="90000"/>
          </a:bodyPr>
          <a:lstStyle/>
          <a:p>
            <a:pPr algn="ctr"/>
            <a:r>
              <a:rPr lang="en-GB" dirty="0"/>
              <a:t>RESULTS </a:t>
            </a:r>
            <a:endParaRPr lang="en-IN" dirty="0"/>
          </a:p>
        </p:txBody>
      </p:sp>
      <p:sp>
        <p:nvSpPr>
          <p:cNvPr id="7" name="Text Placeholder 30">
            <a:extLst>
              <a:ext uri="{FF2B5EF4-FFF2-40B4-BE49-F238E27FC236}">
                <a16:creationId xmlns:a16="http://schemas.microsoft.com/office/drawing/2014/main" xmlns="" id="{372426BE-BEE7-4A6D-BCD2-059615BBCE25}"/>
              </a:ext>
            </a:extLst>
          </p:cNvPr>
          <p:cNvSpPr txBox="1">
            <a:spLocks/>
          </p:cNvSpPr>
          <p:nvPr/>
        </p:nvSpPr>
        <p:spPr>
          <a:xfrm>
            <a:off x="32098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E61E227A-5883-4C77-B25A-46A22FFDF41F}"/>
              </a:ext>
            </a:extLst>
          </p:cNvPr>
          <p:cNvSpPr txBox="1">
            <a:spLocks/>
          </p:cNvSpPr>
          <p:nvPr/>
        </p:nvSpPr>
        <p:spPr>
          <a:xfrm>
            <a:off x="4345696"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411480" y="1325881"/>
            <a:ext cx="2148840" cy="824841"/>
          </a:xfrm>
          <a:prstGeom prst="rect">
            <a:avLst/>
          </a:prstGeom>
          <a:solidFill>
            <a:srgbClr val="F5F5F5"/>
          </a:solidFill>
          <a:ln>
            <a:solidFill>
              <a:srgbClr val="DCDCDC"/>
            </a:solidFill>
          </a:ln>
        </p:spPr>
        <p:txBody>
          <a:bodyPr wrap="square" lIns="73152" tIns="73152" rIns="73152" bIns="73152">
            <a:spAutoFit/>
          </a:bodyPr>
          <a:lstStyle/>
          <a:p>
            <a:r>
              <a:rPr sz="2200" b="1"/>
              <a:t>4,000</a:t>
            </a:r>
            <a:r>
              <a:t/>
            </a:r>
            <a:br/>
            <a:r>
              <a:rPr sz="2200" b="1"/>
              <a:t>Records</a:t>
            </a:r>
          </a:p>
        </p:txBody>
      </p:sp>
      <p:sp>
        <p:nvSpPr>
          <p:cNvPr id="25" name="TextBox 24"/>
          <p:cNvSpPr txBox="1"/>
          <p:nvPr/>
        </p:nvSpPr>
        <p:spPr>
          <a:xfrm>
            <a:off x="2743200" y="1325881"/>
            <a:ext cx="2148840" cy="824841"/>
          </a:xfrm>
          <a:prstGeom prst="rect">
            <a:avLst/>
          </a:prstGeom>
          <a:solidFill>
            <a:srgbClr val="F5F5F5"/>
          </a:solidFill>
          <a:ln>
            <a:solidFill>
              <a:srgbClr val="DCDCDC"/>
            </a:solidFill>
          </a:ln>
        </p:spPr>
        <p:txBody>
          <a:bodyPr wrap="square" lIns="73152" tIns="73152" rIns="73152" bIns="73152">
            <a:spAutoFit/>
          </a:bodyPr>
          <a:lstStyle/>
          <a:p>
            <a:r>
              <a:rPr sz="2200" b="1"/>
              <a:t>28</a:t>
            </a:r>
            <a:r>
              <a:t/>
            </a:r>
            <a:br/>
            <a:r>
              <a:rPr sz="2200" b="1"/>
              <a:t>Variables</a:t>
            </a:r>
          </a:p>
        </p:txBody>
      </p:sp>
      <p:sp>
        <p:nvSpPr>
          <p:cNvPr id="26" name="TextBox 25"/>
          <p:cNvSpPr txBox="1"/>
          <p:nvPr/>
        </p:nvSpPr>
        <p:spPr>
          <a:xfrm>
            <a:off x="5074920" y="1325881"/>
            <a:ext cx="2148840" cy="824841"/>
          </a:xfrm>
          <a:prstGeom prst="rect">
            <a:avLst/>
          </a:prstGeom>
          <a:solidFill>
            <a:srgbClr val="F5F5F5"/>
          </a:solidFill>
          <a:ln>
            <a:solidFill>
              <a:srgbClr val="DCDCDC"/>
            </a:solidFill>
          </a:ln>
        </p:spPr>
        <p:txBody>
          <a:bodyPr wrap="square" lIns="73152" tIns="73152" rIns="73152" bIns="73152">
            <a:spAutoFit/>
          </a:bodyPr>
          <a:lstStyle/>
          <a:p>
            <a:r>
              <a:rPr sz="2200" b="1"/>
              <a:t>3</a:t>
            </a:r>
            <a:r>
              <a:t/>
            </a:r>
            <a:br/>
            <a:r>
              <a:rPr sz="2200" b="1"/>
              <a:t>Seasons</a:t>
            </a:r>
          </a:p>
        </p:txBody>
      </p:sp>
      <p:sp>
        <p:nvSpPr>
          <p:cNvPr id="27" name="TextBox 26"/>
          <p:cNvSpPr txBox="1"/>
          <p:nvPr/>
        </p:nvSpPr>
        <p:spPr>
          <a:xfrm>
            <a:off x="7406640" y="1325881"/>
            <a:ext cx="2148840" cy="824841"/>
          </a:xfrm>
          <a:prstGeom prst="rect">
            <a:avLst/>
          </a:prstGeom>
          <a:solidFill>
            <a:srgbClr val="F5F5F5"/>
          </a:solidFill>
          <a:ln>
            <a:solidFill>
              <a:srgbClr val="DCDCDC"/>
            </a:solidFill>
          </a:ln>
        </p:spPr>
        <p:txBody>
          <a:bodyPr wrap="square" lIns="73152" tIns="73152" rIns="73152" bIns="73152">
            <a:spAutoFit/>
          </a:bodyPr>
          <a:lstStyle/>
          <a:p>
            <a:r>
              <a:rPr sz="2200" b="1"/>
              <a:t>0</a:t>
            </a:r>
            <a:r>
              <a:t/>
            </a:r>
            <a:br/>
            <a:r>
              <a:rPr sz="2200" b="1"/>
              <a:t>Duplicates</a:t>
            </a:r>
          </a:p>
        </p:txBody>
      </p:sp>
      <p:sp>
        <p:nvSpPr>
          <p:cNvPr id="28" name="TextBox 27"/>
          <p:cNvSpPr txBox="1"/>
          <p:nvPr/>
        </p:nvSpPr>
        <p:spPr>
          <a:xfrm>
            <a:off x="640081" y="2697481"/>
            <a:ext cx="8899575" cy="2554545"/>
          </a:xfrm>
          <a:prstGeom prst="rect">
            <a:avLst/>
          </a:prstGeom>
          <a:noFill/>
        </p:spPr>
        <p:txBody>
          <a:bodyPr wrap="square">
            <a:spAutoFit/>
          </a:bodyPr>
          <a:lstStyle/>
          <a:p>
            <a:pPr>
              <a:spcAft>
                <a:spcPts val="800"/>
              </a:spcAft>
              <a:defRPr sz="1700"/>
            </a:pPr>
            <a:r>
              <a:rPr sz="2000"/>
              <a:t>• Missing values detected in Rainfall (48), Soil Moisture (40) and Yield (32).</a:t>
            </a:r>
          </a:p>
          <a:p>
            <a:pPr>
              <a:spcAft>
                <a:spcPts val="800"/>
              </a:spcAft>
              <a:defRPr sz="1700"/>
            </a:pPr>
            <a:r>
              <a:rPr sz="2000"/>
              <a:t>• Duplicates were checked and removed before analysis; categorical missing values were filled with the mode and numerical missing values with the median.</a:t>
            </a:r>
          </a:p>
          <a:p>
            <a:pPr>
              <a:spcAft>
                <a:spcPts val="800"/>
              </a:spcAft>
              <a:defRPr sz="1700"/>
            </a:pPr>
            <a:r>
              <a:rPr sz="2000"/>
              <a:t>• No negative values were identified in the numerical columns checked.</a:t>
            </a:r>
          </a:p>
          <a:p>
            <a:pPr>
              <a:spcAft>
                <a:spcPts val="800"/>
              </a:spcAft>
              <a:defRPr sz="1700"/>
            </a:pPr>
            <a:r>
              <a:rPr sz="2000"/>
              <a:t>• Final analysis produced a season-wise summary covering yield, production, rainfall, temperature, water use, efficiency, revenue, cost, profit and disease/pest risk.</a:t>
            </a:r>
          </a:p>
        </p:txBody>
      </p:sp>
    </p:spTree>
    <p:extLst>
      <p:ext uri="{BB962C8B-B14F-4D97-AF65-F5344CB8AC3E}">
        <p14:creationId xmlns:p14="http://schemas.microsoft.com/office/powerpoint/2010/main" xmlns=""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FCF24DA-3CDC-4D87-9335-AB913C783F76}"/>
              </a:ext>
            </a:extLst>
          </p:cNvPr>
          <p:cNvPicPr>
            <a:picLocks noChangeAspect="1"/>
          </p:cNvPicPr>
          <p:nvPr/>
        </p:nvPicPr>
        <p:blipFill rotWithShape="1">
          <a:blip r:embed="rId2"/>
          <a:srcRect t="96181"/>
          <a:stretch/>
        </p:blipFill>
        <p:spPr>
          <a:xfrm>
            <a:off x="675958" y="6471920"/>
            <a:ext cx="2143125" cy="193040"/>
          </a:xfrm>
          <a:prstGeom prst="rect">
            <a:avLst/>
          </a:prstGeom>
        </p:spPr>
      </p:pic>
      <p:sp>
        <p:nvSpPr>
          <p:cNvPr id="4" name="Title 3">
            <a:extLst>
              <a:ext uri="{FF2B5EF4-FFF2-40B4-BE49-F238E27FC236}">
                <a16:creationId xmlns:a16="http://schemas.microsoft.com/office/drawing/2014/main" xmlns="" id="{6D5AF756-BADB-9E87-14AC-F87A8C7463BF}"/>
              </a:ext>
            </a:extLst>
          </p:cNvPr>
          <p:cNvSpPr>
            <a:spLocks noGrp="1"/>
          </p:cNvSpPr>
          <p:nvPr>
            <p:ph type="title"/>
          </p:nvPr>
        </p:nvSpPr>
        <p:spPr>
          <a:xfrm>
            <a:off x="675958" y="370591"/>
            <a:ext cx="6296343" cy="830997"/>
          </a:xfrm>
        </p:spPr>
        <p:txBody>
          <a:bodyPr>
            <a:normAutofit fontScale="90000"/>
          </a:bodyPr>
          <a:lstStyle/>
          <a:p>
            <a:pPr algn="ctr"/>
            <a:r>
              <a:rPr lang="en-GB" dirty="0"/>
              <a:t>RESULTS </a:t>
            </a:r>
            <a:endParaRPr lang="en-IN" dirty="0"/>
          </a:p>
        </p:txBody>
      </p:sp>
      <p:sp>
        <p:nvSpPr>
          <p:cNvPr id="7" name="Text Placeholder 30">
            <a:extLst>
              <a:ext uri="{FF2B5EF4-FFF2-40B4-BE49-F238E27FC236}">
                <a16:creationId xmlns:a16="http://schemas.microsoft.com/office/drawing/2014/main" xmlns="" id="{4716F3BA-AE41-9B35-3BCA-353F205375D1}"/>
              </a:ext>
            </a:extLst>
          </p:cNvPr>
          <p:cNvSpPr txBox="1">
            <a:spLocks/>
          </p:cNvSpPr>
          <p:nvPr/>
        </p:nvSpPr>
        <p:spPr>
          <a:xfrm>
            <a:off x="32098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E149068-B429-662F-714A-0DD8CE171A51}"/>
              </a:ext>
            </a:extLst>
          </p:cNvPr>
          <p:cNvSpPr txBox="1">
            <a:spLocks/>
          </p:cNvSpPr>
          <p:nvPr/>
        </p:nvSpPr>
        <p:spPr>
          <a:xfrm>
            <a:off x="4345696"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cell14_0.png"/>
          <p:cNvPicPr>
            <a:picLocks noChangeAspect="1"/>
          </p:cNvPicPr>
          <p:nvPr/>
        </p:nvPicPr>
        <p:blipFill>
          <a:blip r:embed="rId3"/>
          <a:stretch>
            <a:fillRect/>
          </a:stretch>
        </p:blipFill>
        <p:spPr>
          <a:xfrm>
            <a:off x="569741" y="1879796"/>
            <a:ext cx="4846320" cy="3154680"/>
          </a:xfrm>
          <a:prstGeom prst="rect">
            <a:avLst/>
          </a:prstGeom>
        </p:spPr>
      </p:pic>
      <p:pic>
        <p:nvPicPr>
          <p:cNvPr id="32" name="Picture 31" descr="cell16_0.png"/>
          <p:cNvPicPr>
            <a:picLocks noChangeAspect="1"/>
          </p:cNvPicPr>
          <p:nvPr/>
        </p:nvPicPr>
        <p:blipFill>
          <a:blip r:embed="rId4"/>
          <a:stretch>
            <a:fillRect/>
          </a:stretch>
        </p:blipFill>
        <p:spPr>
          <a:xfrm>
            <a:off x="6365632" y="1863971"/>
            <a:ext cx="4651131" cy="3027623"/>
          </a:xfrm>
          <a:prstGeom prst="rect">
            <a:avLst/>
          </a:prstGeom>
        </p:spPr>
      </p:pic>
      <p:sp>
        <p:nvSpPr>
          <p:cNvPr id="33" name="TextBox 32"/>
          <p:cNvSpPr txBox="1"/>
          <p:nvPr/>
        </p:nvSpPr>
        <p:spPr>
          <a:xfrm>
            <a:off x="590843" y="5187464"/>
            <a:ext cx="8702627" cy="640175"/>
          </a:xfrm>
          <a:prstGeom prst="rect">
            <a:avLst/>
          </a:prstGeom>
          <a:solidFill>
            <a:srgbClr val="F8F8F8"/>
          </a:solidFill>
          <a:ln>
            <a:solidFill>
              <a:srgbClr val="DCDCDC"/>
            </a:solidFill>
          </a:ln>
        </p:spPr>
        <p:txBody>
          <a:bodyPr wrap="square" lIns="73152" tIns="73152" rIns="73152" bIns="73152">
            <a:spAutoFit/>
          </a:bodyPr>
          <a:lstStyle/>
          <a:p>
            <a:r>
              <a:rPr sz="1600" b="0"/>
              <a:t>Key result: Kharif recorded the highest average yield (5.63 t/ha), followed by Rabi (5.04 t/ha) and Zaid (4.64 t/ha). Kharif also had the largest number of records in the dataset.</a:t>
            </a:r>
          </a:p>
        </p:txBody>
      </p:sp>
    </p:spTree>
    <p:extLst>
      <p:ext uri="{BB962C8B-B14F-4D97-AF65-F5344CB8AC3E}">
        <p14:creationId xmlns:p14="http://schemas.microsoft.com/office/powerpoint/2010/main" xmlns=""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BEC6E6C7-69F2-D361-F3CC-FC5268D9BC87}"/>
              </a:ext>
            </a:extLst>
          </p:cNvPr>
          <p:cNvPicPr>
            <a:picLocks noChangeAspect="1"/>
          </p:cNvPicPr>
          <p:nvPr/>
        </p:nvPicPr>
        <p:blipFill rotWithShape="1">
          <a:blip r:embed="rId2"/>
          <a:srcRect t="96181"/>
          <a:stretch/>
        </p:blipFill>
        <p:spPr>
          <a:xfrm>
            <a:off x="675958" y="6471920"/>
            <a:ext cx="2143125" cy="193040"/>
          </a:xfrm>
          <a:prstGeom prst="rect">
            <a:avLst/>
          </a:prstGeom>
        </p:spPr>
      </p:pic>
      <p:sp>
        <p:nvSpPr>
          <p:cNvPr id="4" name="Title 3">
            <a:extLst>
              <a:ext uri="{FF2B5EF4-FFF2-40B4-BE49-F238E27FC236}">
                <a16:creationId xmlns:a16="http://schemas.microsoft.com/office/drawing/2014/main" xmlns="" id="{DFCD5524-F764-DC63-6F54-D48057CF17B7}"/>
              </a:ext>
            </a:extLst>
          </p:cNvPr>
          <p:cNvSpPr>
            <a:spLocks noGrp="1"/>
          </p:cNvSpPr>
          <p:nvPr>
            <p:ph type="title"/>
          </p:nvPr>
        </p:nvSpPr>
        <p:spPr>
          <a:xfrm>
            <a:off x="3015763" y="370591"/>
            <a:ext cx="3437792" cy="830997"/>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xmlns="" id="{4B1E3463-DEAD-53DD-2AC0-E8A458421D0B}"/>
              </a:ext>
            </a:extLst>
          </p:cNvPr>
          <p:cNvSpPr txBox="1">
            <a:spLocks/>
          </p:cNvSpPr>
          <p:nvPr/>
        </p:nvSpPr>
        <p:spPr>
          <a:xfrm>
            <a:off x="32098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B713140B-3822-90E0-F216-B77A695B86B5}"/>
              </a:ext>
            </a:extLst>
          </p:cNvPr>
          <p:cNvSpPr txBox="1">
            <a:spLocks/>
          </p:cNvSpPr>
          <p:nvPr/>
        </p:nvSpPr>
        <p:spPr>
          <a:xfrm>
            <a:off x="4345696"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cell20_0.png"/>
          <p:cNvPicPr>
            <a:picLocks noChangeAspect="1"/>
          </p:cNvPicPr>
          <p:nvPr/>
        </p:nvPicPr>
        <p:blipFill>
          <a:blip r:embed="rId3"/>
          <a:stretch>
            <a:fillRect/>
          </a:stretch>
        </p:blipFill>
        <p:spPr>
          <a:xfrm>
            <a:off x="1002325" y="1881555"/>
            <a:ext cx="4384500" cy="2771335"/>
          </a:xfrm>
          <a:prstGeom prst="rect">
            <a:avLst/>
          </a:prstGeom>
        </p:spPr>
      </p:pic>
      <p:pic>
        <p:nvPicPr>
          <p:cNvPr id="32" name="Picture 31" descr="cell21_0.png"/>
          <p:cNvPicPr>
            <a:picLocks noChangeAspect="1"/>
          </p:cNvPicPr>
          <p:nvPr/>
        </p:nvPicPr>
        <p:blipFill>
          <a:blip r:embed="rId4"/>
          <a:stretch>
            <a:fillRect/>
          </a:stretch>
        </p:blipFill>
        <p:spPr>
          <a:xfrm>
            <a:off x="6013938" y="1721536"/>
            <a:ext cx="4846320" cy="3063240"/>
          </a:xfrm>
          <a:prstGeom prst="rect">
            <a:avLst/>
          </a:prstGeom>
        </p:spPr>
      </p:pic>
      <p:sp>
        <p:nvSpPr>
          <p:cNvPr id="33" name="TextBox 32"/>
          <p:cNvSpPr txBox="1"/>
          <p:nvPr/>
        </p:nvSpPr>
        <p:spPr>
          <a:xfrm>
            <a:off x="502921" y="4834011"/>
            <a:ext cx="8342143" cy="863313"/>
          </a:xfrm>
          <a:prstGeom prst="rect">
            <a:avLst/>
          </a:prstGeom>
          <a:solidFill>
            <a:srgbClr val="F8F8F8"/>
          </a:solidFill>
          <a:ln>
            <a:solidFill>
              <a:srgbClr val="DCDCDC"/>
            </a:solidFill>
          </a:ln>
        </p:spPr>
        <p:txBody>
          <a:bodyPr wrap="square" lIns="73152" tIns="73152" rIns="73152" bIns="73152">
            <a:spAutoFit/>
          </a:bodyPr>
          <a:lstStyle/>
          <a:p>
            <a:r>
              <a:rPr sz="1550" b="0"/>
              <a:t>Seasonal environmental averages: Kharif rainfall ≈ 849.20 mm and temperature ≈ 28.45°C; Rabi ≈ 437.62 mm and 23.49°C; Zaid ≈ 304.65 mm and 31.04°C. These differences provide important seasonal context for performance comparisons.</a:t>
            </a:r>
          </a:p>
        </p:txBody>
      </p:sp>
    </p:spTree>
    <p:extLst>
      <p:ext uri="{BB962C8B-B14F-4D97-AF65-F5344CB8AC3E}">
        <p14:creationId xmlns:p14="http://schemas.microsoft.com/office/powerpoint/2010/main" xmlns=""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E9D7CE81-8696-30A4-F33E-B4B569D35025}"/>
              </a:ext>
            </a:extLst>
          </p:cNvPr>
          <p:cNvPicPr>
            <a:picLocks noChangeAspect="1"/>
          </p:cNvPicPr>
          <p:nvPr/>
        </p:nvPicPr>
        <p:blipFill rotWithShape="1">
          <a:blip r:embed="rId2"/>
          <a:srcRect t="96181"/>
          <a:stretch/>
        </p:blipFill>
        <p:spPr>
          <a:xfrm>
            <a:off x="675958" y="6471920"/>
            <a:ext cx="2143125" cy="193040"/>
          </a:xfrm>
          <a:prstGeom prst="rect">
            <a:avLst/>
          </a:prstGeom>
        </p:spPr>
      </p:pic>
      <p:sp>
        <p:nvSpPr>
          <p:cNvPr id="4" name="Title 3">
            <a:extLst>
              <a:ext uri="{FF2B5EF4-FFF2-40B4-BE49-F238E27FC236}">
                <a16:creationId xmlns:a16="http://schemas.microsoft.com/office/drawing/2014/main" xmlns="" id="{15FD49EE-0956-AAE3-737B-15F7D4267C1A}"/>
              </a:ext>
            </a:extLst>
          </p:cNvPr>
          <p:cNvSpPr>
            <a:spLocks noGrp="1"/>
          </p:cNvSpPr>
          <p:nvPr>
            <p:ph type="title"/>
          </p:nvPr>
        </p:nvSpPr>
        <p:spPr>
          <a:xfrm>
            <a:off x="3102635" y="379383"/>
            <a:ext cx="2981643" cy="830997"/>
          </a:xfrm>
        </p:spPr>
        <p:txBody>
          <a:bodyPr>
            <a:normAutofit fontScale="90000"/>
          </a:bodyPr>
          <a:lstStyle/>
          <a:p>
            <a:pPr algn="ctr"/>
            <a:r>
              <a:rPr lang="en-GB" dirty="0"/>
              <a:t>RESULTS </a:t>
            </a:r>
            <a:endParaRPr lang="en-IN" dirty="0"/>
          </a:p>
        </p:txBody>
      </p:sp>
      <p:sp>
        <p:nvSpPr>
          <p:cNvPr id="7" name="Text Placeholder 30">
            <a:extLst>
              <a:ext uri="{FF2B5EF4-FFF2-40B4-BE49-F238E27FC236}">
                <a16:creationId xmlns:a16="http://schemas.microsoft.com/office/drawing/2014/main" xmlns="" id="{D224F8B1-34DD-5A54-7F70-25EBA532E6E1}"/>
              </a:ext>
            </a:extLst>
          </p:cNvPr>
          <p:cNvSpPr txBox="1">
            <a:spLocks/>
          </p:cNvSpPr>
          <p:nvPr/>
        </p:nvSpPr>
        <p:spPr>
          <a:xfrm>
            <a:off x="32098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5A36120-3EFF-6A69-8D23-42BFD883ADDA}"/>
              </a:ext>
            </a:extLst>
          </p:cNvPr>
          <p:cNvSpPr txBox="1">
            <a:spLocks/>
          </p:cNvSpPr>
          <p:nvPr/>
        </p:nvSpPr>
        <p:spPr>
          <a:xfrm>
            <a:off x="4345696"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cell29_0.png"/>
          <p:cNvPicPr>
            <a:picLocks noChangeAspect="1"/>
          </p:cNvPicPr>
          <p:nvPr/>
        </p:nvPicPr>
        <p:blipFill>
          <a:blip r:embed="rId3"/>
          <a:stretch>
            <a:fillRect/>
          </a:stretch>
        </p:blipFill>
        <p:spPr>
          <a:xfrm>
            <a:off x="1471832" y="1934583"/>
            <a:ext cx="4155245" cy="2630384"/>
          </a:xfrm>
          <a:prstGeom prst="rect">
            <a:avLst/>
          </a:prstGeom>
        </p:spPr>
      </p:pic>
      <p:pic>
        <p:nvPicPr>
          <p:cNvPr id="32" name="Picture 31" descr="cell37_0.png"/>
          <p:cNvPicPr>
            <a:picLocks noChangeAspect="1"/>
          </p:cNvPicPr>
          <p:nvPr/>
        </p:nvPicPr>
        <p:blipFill>
          <a:blip r:embed="rId4"/>
          <a:stretch>
            <a:fillRect/>
          </a:stretch>
        </p:blipFill>
        <p:spPr>
          <a:xfrm>
            <a:off x="6172199" y="1933242"/>
            <a:ext cx="4185139" cy="2649308"/>
          </a:xfrm>
          <a:prstGeom prst="rect">
            <a:avLst/>
          </a:prstGeom>
        </p:spPr>
      </p:pic>
      <p:sp>
        <p:nvSpPr>
          <p:cNvPr id="33" name="TextBox 32"/>
          <p:cNvSpPr txBox="1"/>
          <p:nvPr/>
        </p:nvSpPr>
        <p:spPr>
          <a:xfrm>
            <a:off x="406205" y="4983482"/>
            <a:ext cx="8702627" cy="624786"/>
          </a:xfrm>
          <a:prstGeom prst="rect">
            <a:avLst/>
          </a:prstGeom>
          <a:solidFill>
            <a:srgbClr val="F8F8F8"/>
          </a:solidFill>
          <a:ln>
            <a:solidFill>
              <a:srgbClr val="DCDCDC"/>
            </a:solidFill>
          </a:ln>
        </p:spPr>
        <p:txBody>
          <a:bodyPr wrap="square" lIns="73152" tIns="73152" rIns="73152" bIns="73152">
            <a:spAutoFit/>
          </a:bodyPr>
          <a:lstStyle/>
          <a:p>
            <a:r>
              <a:rPr sz="1550" b="0"/>
              <a:t>Kharif achieved the highest average water efficiency (5.89 t/1,000 m³), revenue (₹710,719) and profit (₹178,915). Rabi remained profitable (₹87,689), while Zaid showed an average loss of about ₹24,805.</a:t>
            </a:r>
          </a:p>
        </p:txBody>
      </p:sp>
    </p:spTree>
    <p:extLst>
      <p:ext uri="{BB962C8B-B14F-4D97-AF65-F5344CB8AC3E}">
        <p14:creationId xmlns:p14="http://schemas.microsoft.com/office/powerpoint/2010/main" xmlns=""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9E7611FF-D6E5-400F-ED75-6F5531CFA957}"/>
              </a:ext>
            </a:extLst>
          </p:cNvPr>
          <p:cNvPicPr>
            <a:picLocks noChangeAspect="1"/>
          </p:cNvPicPr>
          <p:nvPr/>
        </p:nvPicPr>
        <p:blipFill rotWithShape="1">
          <a:blip r:embed="rId2"/>
          <a:srcRect t="96181"/>
          <a:stretch/>
        </p:blipFill>
        <p:spPr>
          <a:xfrm>
            <a:off x="675958" y="6471920"/>
            <a:ext cx="2143125" cy="193040"/>
          </a:xfrm>
          <a:prstGeom prst="rect">
            <a:avLst/>
          </a:prstGeom>
        </p:spPr>
      </p:pic>
      <p:sp>
        <p:nvSpPr>
          <p:cNvPr id="10" name="Text Placeholder 1">
            <a:extLst>
              <a:ext uri="{FF2B5EF4-FFF2-40B4-BE49-F238E27FC236}">
                <a16:creationId xmlns:a16="http://schemas.microsoft.com/office/drawing/2014/main" xmlns="" id="{F85C769B-425A-FE3B-E47A-3B747985DC52}"/>
              </a:ext>
            </a:extLst>
          </p:cNvPr>
          <p:cNvSpPr>
            <a:spLocks noGrp="1"/>
          </p:cNvSpPr>
          <p:nvPr>
            <p:ph type="body" sz="quarter" idx="12"/>
          </p:nvPr>
        </p:nvSpPr>
        <p:spPr>
          <a:xfrm>
            <a:off x="807164" y="1431693"/>
            <a:ext cx="4275139" cy="477520"/>
          </a:xfrm>
        </p:spPr>
        <p:txBody>
          <a:bodyPr/>
          <a:lstStyle/>
          <a:p>
            <a:pPr marL="0" indent="0">
              <a:buNone/>
            </a:pPr>
            <a:r>
              <a:rPr lang="en-US" dirty="0"/>
              <a:t>[Add screen shots of your code ]</a:t>
            </a:r>
            <a:endParaRPr lang="en-IN" dirty="0"/>
          </a:p>
        </p:txBody>
      </p:sp>
      <p:sp>
        <p:nvSpPr>
          <p:cNvPr id="4" name="Title 3">
            <a:extLst>
              <a:ext uri="{FF2B5EF4-FFF2-40B4-BE49-F238E27FC236}">
                <a16:creationId xmlns:a16="http://schemas.microsoft.com/office/drawing/2014/main" xmlns="" id="{99E35150-35BD-1B1F-9A8C-890DBFDF3B54}"/>
              </a:ext>
            </a:extLst>
          </p:cNvPr>
          <p:cNvSpPr>
            <a:spLocks noGrp="1"/>
          </p:cNvSpPr>
          <p:nvPr>
            <p:ph type="title"/>
          </p:nvPr>
        </p:nvSpPr>
        <p:spPr>
          <a:xfrm>
            <a:off x="4149969" y="370591"/>
            <a:ext cx="4106008" cy="830997"/>
          </a:xfrm>
        </p:spPr>
        <p:txBody>
          <a:bodyPr>
            <a:normAutofit fontScale="90000"/>
          </a:bodyPr>
          <a:lstStyle/>
          <a:p>
            <a:r>
              <a:rPr lang="en-GB" dirty="0"/>
              <a:t>RESULTS </a:t>
            </a:r>
            <a:endParaRPr lang="en-IN" dirty="0"/>
          </a:p>
        </p:txBody>
      </p:sp>
      <p:sp>
        <p:nvSpPr>
          <p:cNvPr id="7" name="Text Placeholder 30">
            <a:extLst>
              <a:ext uri="{FF2B5EF4-FFF2-40B4-BE49-F238E27FC236}">
                <a16:creationId xmlns:a16="http://schemas.microsoft.com/office/drawing/2014/main" xmlns="" id="{5A2A9BCE-A757-223C-2A3D-44341FB27A61}"/>
              </a:ext>
            </a:extLst>
          </p:cNvPr>
          <p:cNvSpPr txBox="1">
            <a:spLocks/>
          </p:cNvSpPr>
          <p:nvPr/>
        </p:nvSpPr>
        <p:spPr>
          <a:xfrm>
            <a:off x="32098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1EED58A7-2CD5-1355-8D1D-DD62A1ED8CB5}"/>
              </a:ext>
            </a:extLst>
          </p:cNvPr>
          <p:cNvSpPr txBox="1">
            <a:spLocks/>
          </p:cNvSpPr>
          <p:nvPr/>
        </p:nvSpPr>
        <p:spPr>
          <a:xfrm>
            <a:off x="4345696"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1" name="Picture 30" descr="cell32_0.png"/>
          <p:cNvPicPr>
            <a:picLocks noChangeAspect="1"/>
          </p:cNvPicPr>
          <p:nvPr/>
        </p:nvPicPr>
        <p:blipFill>
          <a:blip r:embed="rId3"/>
          <a:stretch>
            <a:fillRect/>
          </a:stretch>
        </p:blipFill>
        <p:spPr>
          <a:xfrm>
            <a:off x="390378" y="1524586"/>
            <a:ext cx="4983480" cy="3063240"/>
          </a:xfrm>
          <a:prstGeom prst="rect">
            <a:avLst/>
          </a:prstGeom>
        </p:spPr>
      </p:pic>
      <p:pic>
        <p:nvPicPr>
          <p:cNvPr id="32" name="Picture 31" descr="cell42_0.png"/>
          <p:cNvPicPr>
            <a:picLocks noChangeAspect="1"/>
          </p:cNvPicPr>
          <p:nvPr/>
        </p:nvPicPr>
        <p:blipFill>
          <a:blip r:embed="rId4"/>
          <a:stretch>
            <a:fillRect/>
          </a:stretch>
        </p:blipFill>
        <p:spPr>
          <a:xfrm>
            <a:off x="5961185" y="1612509"/>
            <a:ext cx="4983480" cy="3063240"/>
          </a:xfrm>
          <a:prstGeom prst="rect">
            <a:avLst/>
          </a:prstGeom>
        </p:spPr>
      </p:pic>
      <p:sp>
        <p:nvSpPr>
          <p:cNvPr id="33" name="TextBox 32"/>
          <p:cNvSpPr txBox="1"/>
          <p:nvPr/>
        </p:nvSpPr>
        <p:spPr>
          <a:xfrm>
            <a:off x="502920" y="5099538"/>
            <a:ext cx="8641080" cy="840230"/>
          </a:xfrm>
          <a:prstGeom prst="rect">
            <a:avLst/>
          </a:prstGeom>
          <a:solidFill>
            <a:srgbClr val="F8F8F8"/>
          </a:solidFill>
          <a:ln>
            <a:solidFill>
              <a:srgbClr val="DCDCDC"/>
            </a:solidFill>
          </a:ln>
        </p:spPr>
        <p:txBody>
          <a:bodyPr wrap="square" lIns="73152" tIns="73152" rIns="73152" bIns="73152">
            <a:spAutoFit/>
          </a:bodyPr>
          <a:lstStyle/>
          <a:p>
            <a:r>
              <a:rPr sz="1500" b="0"/>
              <a:t>Correlation analysis showed very weak direct correlations between the tested environmental variables and yield (e.g., rainfall 0.031, humidity 0.012, soil moisture 0.011). The notebook also identified 302 yield outliers using the IQR rule. Highest disease/pest risk was observed in Kharif (54.47%).</a:t>
            </a:r>
          </a:p>
        </p:txBody>
      </p:sp>
    </p:spTree>
    <p:extLst>
      <p:ext uri="{BB962C8B-B14F-4D97-AF65-F5344CB8AC3E}">
        <p14:creationId xmlns:p14="http://schemas.microsoft.com/office/powerpoint/2010/main" xmlns=""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04506C61-5206-F1DF-9994-DED24DFB1C65}"/>
              </a:ext>
            </a:extLst>
          </p:cNvPr>
          <p:cNvPicPr>
            <a:picLocks noChangeAspect="1"/>
          </p:cNvPicPr>
          <p:nvPr/>
        </p:nvPicPr>
        <p:blipFill rotWithShape="1">
          <a:blip r:embed="rId2"/>
          <a:srcRect t="96181"/>
          <a:stretch/>
        </p:blipFill>
        <p:spPr>
          <a:xfrm>
            <a:off x="675958" y="6471920"/>
            <a:ext cx="2143125" cy="193040"/>
          </a:xfrm>
          <a:prstGeom prst="rect">
            <a:avLst/>
          </a:prstGeom>
        </p:spPr>
      </p:pic>
      <p:sp>
        <p:nvSpPr>
          <p:cNvPr id="4" name="Title 3">
            <a:extLst>
              <a:ext uri="{FF2B5EF4-FFF2-40B4-BE49-F238E27FC236}">
                <a16:creationId xmlns:a16="http://schemas.microsoft.com/office/drawing/2014/main" xmlns="" id="{9B097C2C-D75A-31D4-CD9F-366F39CDE51D}"/>
              </a:ext>
            </a:extLst>
          </p:cNvPr>
          <p:cNvSpPr>
            <a:spLocks noGrp="1"/>
          </p:cNvSpPr>
          <p:nvPr>
            <p:ph type="title"/>
          </p:nvPr>
        </p:nvSpPr>
        <p:spPr>
          <a:xfrm>
            <a:off x="658372" y="396968"/>
            <a:ext cx="6384267" cy="830997"/>
          </a:xfrm>
        </p:spPr>
        <p:txBody>
          <a:bodyPr wrap="square">
            <a:normAutofit/>
          </a:bodyPr>
          <a:lstStyle/>
          <a:p>
            <a:pPr algn="ctr"/>
            <a:r>
              <a:rPr sz="4000" b="1"/>
              <a:t>Future Scope</a:t>
            </a:r>
          </a:p>
        </p:txBody>
      </p:sp>
      <p:sp>
        <p:nvSpPr>
          <p:cNvPr id="7" name="Text Placeholder 30">
            <a:extLst>
              <a:ext uri="{FF2B5EF4-FFF2-40B4-BE49-F238E27FC236}">
                <a16:creationId xmlns:a16="http://schemas.microsoft.com/office/drawing/2014/main" xmlns="" id="{B7444DDE-63A3-9721-77CC-C93FED110DAF}"/>
              </a:ext>
            </a:extLst>
          </p:cNvPr>
          <p:cNvSpPr txBox="1">
            <a:spLocks/>
          </p:cNvSpPr>
          <p:nvPr/>
        </p:nvSpPr>
        <p:spPr>
          <a:xfrm>
            <a:off x="32098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2C8A8B73-0C64-E012-F561-D7FE5E322230}"/>
              </a:ext>
            </a:extLst>
          </p:cNvPr>
          <p:cNvSpPr txBox="1">
            <a:spLocks/>
          </p:cNvSpPr>
          <p:nvPr/>
        </p:nvSpPr>
        <p:spPr>
          <a:xfrm>
            <a:off x="4345696"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4" name="TextBox 23"/>
          <p:cNvSpPr txBox="1"/>
          <p:nvPr/>
        </p:nvSpPr>
        <p:spPr>
          <a:xfrm>
            <a:off x="685801" y="1508761"/>
            <a:ext cx="9170377" cy="3375283"/>
          </a:xfrm>
          <a:prstGeom prst="rect">
            <a:avLst/>
          </a:prstGeom>
          <a:noFill/>
        </p:spPr>
        <p:txBody>
          <a:bodyPr wrap="square">
            <a:spAutoFit/>
          </a:bodyPr>
          <a:lstStyle/>
          <a:p>
            <a:pPr>
              <a:spcAft>
                <a:spcPts val="800"/>
              </a:spcAft>
              <a:defRPr sz="1800"/>
            </a:pPr>
            <a:r>
              <a:rPr sz="2000"/>
              <a:t>• Build an interactive dashboard for season, state, crop and irrigation-level filtering.</a:t>
            </a:r>
          </a:p>
          <a:p>
            <a:pPr>
              <a:spcAft>
                <a:spcPts val="800"/>
              </a:spcAft>
              <a:defRPr sz="1800"/>
            </a:pPr>
            <a:r>
              <a:rPr sz="2000"/>
              <a:t>• Add predictive models for yield, profit and disease/pest risk forecasting.</a:t>
            </a:r>
          </a:p>
          <a:p>
            <a:pPr>
              <a:spcAft>
                <a:spcPts val="800"/>
              </a:spcAft>
              <a:defRPr sz="1800"/>
            </a:pPr>
            <a:r>
              <a:rPr sz="2000"/>
              <a:t>• Use time-series data to study multi-year seasonal trends rather than a single dataset snapshot.</a:t>
            </a:r>
          </a:p>
          <a:p>
            <a:pPr>
              <a:spcAft>
                <a:spcPts val="800"/>
              </a:spcAft>
              <a:defRPr sz="1800"/>
            </a:pPr>
            <a:r>
              <a:rPr sz="2000"/>
              <a:t>• Integrate weather forecasts, soil sensors and real-time market prices for decision support.</a:t>
            </a:r>
          </a:p>
          <a:p>
            <a:pPr>
              <a:spcAft>
                <a:spcPts val="800"/>
              </a:spcAft>
              <a:defRPr sz="1800"/>
            </a:pPr>
            <a:r>
              <a:rPr sz="2000"/>
              <a:t>• Apply explainable ML to identify the strongest drivers of yield and profitability.</a:t>
            </a:r>
          </a:p>
          <a:p>
            <a:pPr>
              <a:spcAft>
                <a:spcPts val="800"/>
              </a:spcAft>
              <a:defRPr sz="1800"/>
            </a:pPr>
            <a:r>
              <a:rPr sz="2000"/>
              <a:t>• Extend the system into a practical seasonal planning assistant for farmers and agricultural stakeholders.</a:t>
            </a:r>
          </a:p>
        </p:txBody>
      </p:sp>
    </p:spTree>
    <p:extLst>
      <p:ext uri="{BB962C8B-B14F-4D97-AF65-F5344CB8AC3E}">
        <p14:creationId xmlns:p14="http://schemas.microsoft.com/office/powerpoint/2010/main" xmlns=""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3D44118A-0276-9E2F-E0E8-85CEE9F1E0C7}"/>
              </a:ext>
            </a:extLst>
          </p:cNvPr>
          <p:cNvPicPr>
            <a:picLocks noChangeAspect="1"/>
          </p:cNvPicPr>
          <p:nvPr/>
        </p:nvPicPr>
        <p:blipFill rotWithShape="1">
          <a:blip r:embed="rId2"/>
          <a:srcRect t="96181"/>
          <a:stretch/>
        </p:blipFill>
        <p:spPr>
          <a:xfrm>
            <a:off x="675958" y="6471920"/>
            <a:ext cx="2143125" cy="193040"/>
          </a:xfrm>
          <a:prstGeom prst="rect">
            <a:avLst/>
          </a:prstGeom>
        </p:spPr>
      </p:pic>
      <p:sp>
        <p:nvSpPr>
          <p:cNvPr id="4" name="Title 3">
            <a:extLst>
              <a:ext uri="{FF2B5EF4-FFF2-40B4-BE49-F238E27FC236}">
                <a16:creationId xmlns:a16="http://schemas.microsoft.com/office/drawing/2014/main" xmlns="" id="{901A2257-2F98-CB88-038E-C0F1D0A1A363}"/>
              </a:ext>
            </a:extLst>
          </p:cNvPr>
          <p:cNvSpPr>
            <a:spLocks noGrp="1"/>
          </p:cNvSpPr>
          <p:nvPr>
            <p:ph type="title"/>
          </p:nvPr>
        </p:nvSpPr>
        <p:spPr>
          <a:xfrm>
            <a:off x="2620109" y="370591"/>
            <a:ext cx="4246683" cy="830997"/>
          </a:xfrm>
        </p:spPr>
        <p:txBody>
          <a:bodyPr wrap="square">
            <a:normAutofit/>
          </a:bodyPr>
          <a:lstStyle/>
          <a:p>
            <a:pPr algn="ctr"/>
            <a:r>
              <a:rPr sz="4000" b="1"/>
              <a:t>GitHub Link</a:t>
            </a:r>
          </a:p>
        </p:txBody>
      </p:sp>
      <p:sp>
        <p:nvSpPr>
          <p:cNvPr id="7" name="Text Placeholder 30">
            <a:extLst>
              <a:ext uri="{FF2B5EF4-FFF2-40B4-BE49-F238E27FC236}">
                <a16:creationId xmlns:a16="http://schemas.microsoft.com/office/drawing/2014/main" xmlns="" id="{AF1C8809-654A-4DD1-BB18-87B8B6C020B9}"/>
              </a:ext>
            </a:extLst>
          </p:cNvPr>
          <p:cNvSpPr txBox="1">
            <a:spLocks/>
          </p:cNvSpPr>
          <p:nvPr/>
        </p:nvSpPr>
        <p:spPr>
          <a:xfrm>
            <a:off x="32098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0F7D0B46-DEEA-1B5E-FE84-59D11F3B1105}"/>
              </a:ext>
            </a:extLst>
          </p:cNvPr>
          <p:cNvSpPr txBox="1">
            <a:spLocks/>
          </p:cNvSpPr>
          <p:nvPr/>
        </p:nvSpPr>
        <p:spPr>
          <a:xfrm>
            <a:off x="2279504" y="1319333"/>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xmlns="" id="{5F0B37E4-66B1-8633-7266-68B321742757}"/>
              </a:ext>
            </a:extLst>
          </p:cNvPr>
          <p:cNvSpPr txBox="1"/>
          <p:nvPr/>
        </p:nvSpPr>
        <p:spPr>
          <a:xfrm>
            <a:off x="571501" y="1440322"/>
            <a:ext cx="9179169" cy="2154436"/>
          </a:xfrm>
          <a:prstGeom prst="rect">
            <a:avLst/>
          </a:prstGeom>
          <a:noFill/>
        </p:spPr>
        <p:txBody>
          <a:bodyPr wrap="square">
            <a:spAutoFit/>
          </a:bodyPr>
          <a:lstStyle/>
          <a:p>
            <a:r>
              <a:rPr sz="2000" b="1">
                <a:latin typeface="Arial" pitchFamily="34" charset="0"/>
                <a:cs typeface="Arial" pitchFamily="34" charset="0"/>
              </a:rPr>
              <a:t>GitHub </a:t>
            </a:r>
            <a:r>
              <a:rPr sz="2000" b="1" smtClean="0">
                <a:latin typeface="Arial" pitchFamily="34" charset="0"/>
                <a:cs typeface="Arial" pitchFamily="34" charset="0"/>
              </a:rPr>
              <a:t>Repository</a:t>
            </a:r>
            <a:r>
              <a:rPr lang="en-US" sz="2000" b="1" dirty="0" smtClean="0">
                <a:latin typeface="Arial" pitchFamily="34" charset="0"/>
                <a:cs typeface="Arial" pitchFamily="34" charset="0"/>
              </a:rPr>
              <a:t>:</a:t>
            </a:r>
            <a:r>
              <a:rPr sz="2000">
                <a:latin typeface="Arial" pitchFamily="34" charset="0"/>
                <a:cs typeface="Arial" pitchFamily="34" charset="0"/>
              </a:rPr>
              <a:t/>
            </a:r>
            <a:br>
              <a:rPr sz="2000">
                <a:latin typeface="Arial" pitchFamily="34" charset="0"/>
                <a:cs typeface="Arial" pitchFamily="34" charset="0"/>
              </a:rPr>
            </a:br>
            <a:r>
              <a:rPr sz="2000">
                <a:latin typeface="Arial" pitchFamily="34" charset="0"/>
                <a:cs typeface="Arial" pitchFamily="34" charset="0"/>
              </a:rPr>
              <a:t>Seasonal Agriculture Performance </a:t>
            </a:r>
            <a:r>
              <a:rPr sz="2000" smtClean="0">
                <a:latin typeface="Arial" pitchFamily="34" charset="0"/>
                <a:cs typeface="Arial" pitchFamily="34" charset="0"/>
              </a:rPr>
              <a:t>Analysis</a:t>
            </a:r>
            <a:endParaRPr lang="en-US" sz="2000" dirty="0" smtClean="0">
              <a:latin typeface="Arial" pitchFamily="34" charset="0"/>
              <a:cs typeface="Arial" pitchFamily="34" charset="0"/>
            </a:endParaRPr>
          </a:p>
          <a:p>
            <a:endParaRPr lang="en-US" sz="2000" dirty="0" smtClean="0">
              <a:latin typeface="Arial" pitchFamily="34" charset="0"/>
              <a:cs typeface="Arial" pitchFamily="34" charset="0"/>
            </a:endParaRPr>
          </a:p>
          <a:p>
            <a:r>
              <a:rPr lang="en-US" sz="2000" b="1" dirty="0" smtClean="0">
                <a:latin typeface="Arial" pitchFamily="34" charset="0"/>
                <a:cs typeface="Arial" pitchFamily="34" charset="0"/>
              </a:rPr>
              <a:t>Repository Link:</a:t>
            </a:r>
          </a:p>
          <a:p>
            <a:r>
              <a:rPr lang="en-US" sz="2000" dirty="0" smtClean="0">
                <a:latin typeface="Arial" pitchFamily="34" charset="0"/>
                <a:cs typeface="Arial" pitchFamily="34" charset="0"/>
              </a:rPr>
              <a:t>https</a:t>
            </a:r>
            <a:r>
              <a:rPr lang="en-US" sz="2000" dirty="0" smtClean="0">
                <a:latin typeface="Arial" pitchFamily="34" charset="0"/>
                <a:cs typeface="Arial" pitchFamily="34" charset="0"/>
              </a:rPr>
              <a:t>://github.com/VidhiiMittal0027/Seasonal-Agriculture-Performance-Analysis</a:t>
            </a:r>
            <a:r>
              <a:t/>
            </a:r>
            <a:br/>
            <a:r>
              <a:rPr/>
              <a:t/>
            </a:r>
            <a:br>
              <a:rPr/>
            </a:br>
            <a:endParaRPr sz="1600" b="0"/>
          </a:p>
        </p:txBody>
      </p:sp>
      <p:sp>
        <p:nvSpPr>
          <p:cNvPr id="24" name="TextBox 23"/>
          <p:cNvSpPr txBox="1"/>
          <p:nvPr/>
        </p:nvSpPr>
        <p:spPr>
          <a:xfrm>
            <a:off x="659423" y="3464169"/>
            <a:ext cx="8352692" cy="1071062"/>
          </a:xfrm>
          <a:prstGeom prst="rect">
            <a:avLst/>
          </a:prstGeom>
          <a:solidFill>
            <a:srgbClr val="F8F8F8"/>
          </a:solidFill>
          <a:ln>
            <a:solidFill>
              <a:srgbClr val="DCDCDC"/>
            </a:solidFill>
          </a:ln>
        </p:spPr>
        <p:txBody>
          <a:bodyPr wrap="square" lIns="73152" tIns="73152" rIns="73152" bIns="73152">
            <a:spAutoFit/>
          </a:bodyPr>
          <a:lstStyle/>
          <a:p>
            <a:r>
              <a:rPr lang="en-US" sz="2000" dirty="0" smtClean="0"/>
              <a:t>“The repository contains the complete Jupyter Notebook, data analysis workflow, visualizations, seasonal comparisons, correlation analysis, outlier detection, and summary results.”</a:t>
            </a:r>
            <a:endParaRPr sz="2000" b="0"/>
          </a:p>
        </p:txBody>
      </p:sp>
    </p:spTree>
    <p:extLst>
      <p:ext uri="{BB962C8B-B14F-4D97-AF65-F5344CB8AC3E}">
        <p14:creationId xmlns:p14="http://schemas.microsoft.com/office/powerpoint/2010/main" xmlns=""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xmlns="" id="{5B12FC48-BC6E-8635-A49E-73EF17CEDC01}"/>
              </a:ext>
            </a:extLst>
          </p:cNvPr>
          <p:cNvPicPr>
            <a:picLocks noChangeAspect="1"/>
          </p:cNvPicPr>
          <p:nvPr/>
        </p:nvPicPr>
        <p:blipFill rotWithShape="1">
          <a:blip r:embed="rId2"/>
          <a:srcRect t="96181"/>
          <a:stretch/>
        </p:blipFill>
        <p:spPr>
          <a:xfrm>
            <a:off x="675958" y="6471920"/>
            <a:ext cx="2143125" cy="193040"/>
          </a:xfrm>
          <a:prstGeom prst="rect">
            <a:avLst/>
          </a:prstGeom>
        </p:spPr>
      </p:pic>
      <p:sp>
        <p:nvSpPr>
          <p:cNvPr id="4" name="Title 3">
            <a:extLst>
              <a:ext uri="{FF2B5EF4-FFF2-40B4-BE49-F238E27FC236}">
                <a16:creationId xmlns:a16="http://schemas.microsoft.com/office/drawing/2014/main" xmlns="" id="{42B692F6-18B4-BC16-EA0C-48FFBD5621DF}"/>
              </a:ext>
            </a:extLst>
          </p:cNvPr>
          <p:cNvSpPr>
            <a:spLocks noGrp="1"/>
          </p:cNvSpPr>
          <p:nvPr>
            <p:ph type="title"/>
          </p:nvPr>
        </p:nvSpPr>
        <p:spPr>
          <a:xfrm>
            <a:off x="1090245" y="370589"/>
            <a:ext cx="7937099" cy="884658"/>
          </a:xfrm>
        </p:spPr>
        <p:txBody>
          <a:bodyPr wrap="square">
            <a:noAutofit/>
          </a:bodyPr>
          <a:lstStyle/>
          <a:p>
            <a:pPr algn="ctr"/>
            <a:r>
              <a:rPr sz="2800" b="1"/>
              <a:t>VOIS Course Completion Certificate</a:t>
            </a:r>
            <a:r>
              <a:rPr sz="2800"/>
              <a:t/>
            </a:r>
            <a:br>
              <a:rPr sz="2800"/>
            </a:br>
            <a:r>
              <a:rPr sz="2800" b="1"/>
              <a:t>Course Name — Data Visualization</a:t>
            </a:r>
          </a:p>
        </p:txBody>
      </p:sp>
      <p:sp>
        <p:nvSpPr>
          <p:cNvPr id="7" name="Text Placeholder 30">
            <a:extLst>
              <a:ext uri="{FF2B5EF4-FFF2-40B4-BE49-F238E27FC236}">
                <a16:creationId xmlns:a16="http://schemas.microsoft.com/office/drawing/2014/main" xmlns="" id="{069BD300-7A70-B076-3B4C-43081E893162}"/>
              </a:ext>
            </a:extLst>
          </p:cNvPr>
          <p:cNvSpPr txBox="1">
            <a:spLocks/>
          </p:cNvSpPr>
          <p:nvPr/>
        </p:nvSpPr>
        <p:spPr>
          <a:xfrm>
            <a:off x="32098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xmlns="" id="{8C1854F2-9914-C22F-FF0B-693CD1D0F966}"/>
              </a:ext>
            </a:extLst>
          </p:cNvPr>
          <p:cNvSpPr txBox="1">
            <a:spLocks/>
          </p:cNvSpPr>
          <p:nvPr/>
        </p:nvSpPr>
        <p:spPr>
          <a:xfrm>
            <a:off x="4345696"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descr="WhatsApp Image 2026-09-04 at 11.20.24 PM.jpeg"/>
          <p:cNvPicPr>
            <a:picLocks noChangeAspect="1"/>
          </p:cNvPicPr>
          <p:nvPr/>
        </p:nvPicPr>
        <p:blipFill>
          <a:blip r:embed="rId3"/>
          <a:stretch>
            <a:fillRect/>
          </a:stretch>
        </p:blipFill>
        <p:spPr>
          <a:xfrm>
            <a:off x="1503485" y="1503486"/>
            <a:ext cx="7552592" cy="4874956"/>
          </a:xfrm>
          <a:prstGeom prst="rect">
            <a:avLst/>
          </a:prstGeom>
        </p:spPr>
      </p:pic>
    </p:spTree>
    <p:extLst>
      <p:ext uri="{BB962C8B-B14F-4D97-AF65-F5344CB8AC3E}">
        <p14:creationId xmlns:p14="http://schemas.microsoft.com/office/powerpoint/2010/main" xmlns=""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xmlns="" id="{D88C20CF-C1EE-4092-B52D-FD4AB2AB2508}"/>
              </a:ext>
            </a:extLst>
          </p:cNvPr>
          <p:cNvSpPr>
            <a:spLocks noGrp="1"/>
          </p:cNvSpPr>
          <p:nvPr>
            <p:ph type="title"/>
          </p:nvPr>
        </p:nvSpPr>
        <p:spPr>
          <a:xfrm>
            <a:off x="432001" y="1204546"/>
            <a:ext cx="10189108" cy="3367454"/>
          </a:xfrm>
          <a:prstGeom prst="rect">
            <a:avLst/>
          </a:prstGeom>
        </p:spPr>
        <p:txBody>
          <a:bodyPr anchor="ctr">
            <a:normAutofit/>
          </a:bodyPr>
          <a:lstStyle/>
          <a:p>
            <a:pPr algn="ctr"/>
            <a:r>
              <a:rPr lang="en-US" sz="8000" b="1" dirty="0">
                <a:solidFill>
                  <a:schemeClr val="tx1"/>
                </a:solidFill>
                <a:latin typeface="Arial" pitchFamily="34" charset="0"/>
                <a:cs typeface="Arial" pitchFamily="34" charset="0"/>
              </a:rPr>
              <a:t>Thank you</a:t>
            </a:r>
          </a:p>
        </p:txBody>
      </p:sp>
      <p:sp>
        <p:nvSpPr>
          <p:cNvPr id="17" name="Text Placeholder 28">
            <a:extLst>
              <a:ext uri="{FF2B5EF4-FFF2-40B4-BE49-F238E27FC236}">
                <a16:creationId xmlns:a16="http://schemas.microsoft.com/office/drawing/2014/main" xmlns="" id="{E212CE24-374D-44D0-8F39-0F5A36E42ED7}"/>
              </a:ext>
            </a:extLst>
          </p:cNvPr>
          <p:cNvSpPr txBox="1">
            <a:spLocks/>
          </p:cNvSpPr>
          <p:nvPr/>
        </p:nvSpPr>
        <p:spPr>
          <a:xfrm>
            <a:off x="878338" y="4134782"/>
            <a:ext cx="2596575"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xmlns="" id="{A09A5BC1-0E62-4E6B-A590-951A87D4B4FE}"/>
              </a:ext>
            </a:extLst>
          </p:cNvPr>
          <p:cNvSpPr txBox="1">
            <a:spLocks/>
          </p:cNvSpPr>
          <p:nvPr/>
        </p:nvSpPr>
        <p:spPr>
          <a:xfrm>
            <a:off x="5353509" y="3962573"/>
            <a:ext cx="2596575"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xmlns="" id="{9E6B148F-F3B6-4E6B-9B85-645C039858E8}"/>
              </a:ext>
            </a:extLst>
          </p:cNvPr>
          <p:cNvSpPr txBox="1">
            <a:spLocks/>
          </p:cNvSpPr>
          <p:nvPr/>
        </p:nvSpPr>
        <p:spPr>
          <a:xfrm>
            <a:off x="7789163" y="3962572"/>
            <a:ext cx="2596575"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xmlns="" id="{D3BF02F6-2753-476A-8046-A85AE3A49748}"/>
              </a:ext>
            </a:extLst>
          </p:cNvPr>
          <p:cNvSpPr txBox="1">
            <a:spLocks/>
          </p:cNvSpPr>
          <p:nvPr/>
        </p:nvSpPr>
        <p:spPr>
          <a:xfrm>
            <a:off x="6096002" y="4641927"/>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pic>
        <p:nvPicPr>
          <p:cNvPr id="15" name="Picture 14">
            <a:extLst>
              <a:ext uri="{FF2B5EF4-FFF2-40B4-BE49-F238E27FC236}">
                <a16:creationId xmlns:a16="http://schemas.microsoft.com/office/drawing/2014/main" xmlns="" id="{BD3F9E86-2FB3-4DB3-9343-59D594F350A0}"/>
              </a:ext>
            </a:extLst>
          </p:cNvPr>
          <p:cNvPicPr>
            <a:picLocks noChangeAspect="1"/>
          </p:cNvPicPr>
          <p:nvPr/>
        </p:nvPicPr>
        <p:blipFill rotWithShape="1">
          <a:blip r:embed="rId2"/>
          <a:srcRect t="96181"/>
          <a:stretch/>
        </p:blipFill>
        <p:spPr>
          <a:xfrm>
            <a:off x="675958" y="6471920"/>
            <a:ext cx="2143125" cy="193040"/>
          </a:xfrm>
          <a:prstGeom prst="rect">
            <a:avLst/>
          </a:prstGeom>
        </p:spPr>
      </p:pic>
    </p:spTree>
    <p:extLst>
      <p:ext uri="{BB962C8B-B14F-4D97-AF65-F5344CB8AC3E}">
        <p14:creationId xmlns:p14="http://schemas.microsoft.com/office/powerpoint/2010/main" xmlns=""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Equity</Template>
  <TotalTime>1393</TotalTime>
  <Words>685</Words>
  <Application>Microsoft Office PowerPoint</Application>
  <PresentationFormat>Custom</PresentationFormat>
  <Paragraphs>61</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Equity</vt:lpstr>
      <vt:lpstr>Project Title - Seasonal Agriculture Performance Analysis</vt:lpstr>
      <vt:lpstr>PROBLEM  STATEMENT</vt:lpstr>
      <vt:lpstr>PROJECT DESCRIPTION</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Course Name — Data Visualization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ss</cp:lastModifiedBy>
  <cp:revision>102</cp:revision>
  <dcterms:created xsi:type="dcterms:W3CDTF">2021-07-11T13:13:15Z</dcterms:created>
  <dcterms:modified xsi:type="dcterms:W3CDTF">2026-09-04T18:09:34Z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